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AB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74"/>
    <p:restoredTop sz="94682"/>
  </p:normalViewPr>
  <p:slideViewPr>
    <p:cSldViewPr snapToGrid="0">
      <p:cViewPr varScale="1">
        <p:scale>
          <a:sx n="111" d="100"/>
          <a:sy n="111" d="100"/>
        </p:scale>
        <p:origin x="8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png" Type="http://schemas.openxmlformats.org/officeDocument/2006/relationships/image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png" Type="http://schemas.openxmlformats.org/officeDocument/2006/relationships/image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4.png" Type="http://schemas.openxmlformats.org/officeDocument/2006/relationships/image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jpeg" Type="http://schemas.openxmlformats.org/officeDocument/2006/relationships/image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8.png" Type="http://schemas.openxmlformats.org/officeDocument/2006/relationships/image"/></Relationships>
</file>

<file path=ppt/slideLayouts/_rels/slideLayout1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8.png" Type="http://schemas.openxmlformats.org/officeDocument/2006/relationships/image"/></Relationships>
</file>

<file path=ppt/slideLayouts/_rels/slideLayout1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8.png" Type="http://schemas.openxmlformats.org/officeDocument/2006/relationships/image"/></Relationships>
</file>

<file path=ppt/slideLayouts/_rels/slideLayout1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9.png" Type="http://schemas.openxmlformats.org/officeDocument/2006/relationships/image"/><Relationship Id="rId3" Target="../media/image2.png" Type="http://schemas.openxmlformats.org/officeDocument/2006/relationships/image"/></Relationships>
</file>

<file path=ppt/slideLayouts/_rels/slideLayout1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9.png" Type="http://schemas.openxmlformats.org/officeDocument/2006/relationships/image"/></Relationships>
</file>

<file path=ppt/slideLayouts/_rels/slideLayout1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9.png" Type="http://schemas.openxmlformats.org/officeDocument/2006/relationships/image"/><Relationship Id="rId3" Target="../media/image2.png" Type="http://schemas.openxmlformats.org/officeDocument/2006/relationships/image"/></Relationships>
</file>

<file path=ppt/slideLayouts/_rels/slideLayout1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png" Type="http://schemas.openxmlformats.org/officeDocument/2006/relationships/image"/></Relationships>
</file>

<file path=ppt/slideLayouts/_rels/slideLayout1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/Relationships>
</file>

<file path=ppt/slideLayouts/_rels/slideLayout2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/Relationships>
</file>

<file path=ppt/slideLayouts/_rels/slideLayout2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ray" descr="/Users/skinnyfish/Downloads/themes/blue/cover.pngcover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6" name="body"/>
          <p:cNvSpPr>
            <a:spLocks noGrp="1"/>
          </p:cNvSpPr>
          <p:nvPr>
            <p:ph sz="quarter" idx="10"/>
          </p:nvPr>
        </p:nvSpPr>
        <p:spPr>
          <a:xfrm>
            <a:off x="785495" y="2109470"/>
            <a:ext cx="10810240" cy="2757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795020" y="460375"/>
            <a:ext cx="10800080" cy="1805305"/>
          </a:xfrm>
          <a:prstGeom prst="rect">
            <a:avLst/>
          </a:prstGeom>
        </p:spPr>
        <p:txBody>
          <a:bodyPr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ray" descr="/Users/skinnyfish/Downloads/themes/blue/cover.pngcover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6" name="body1"/>
          <p:cNvSpPr>
            <a:spLocks noGrp="1"/>
          </p:cNvSpPr>
          <p:nvPr>
            <p:ph sz="quarter" idx="10"/>
          </p:nvPr>
        </p:nvSpPr>
        <p:spPr>
          <a:xfrm>
            <a:off x="785495" y="2109470"/>
            <a:ext cx="10810240" cy="2757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795020" y="460375"/>
            <a:ext cx="10800080" cy="1805305"/>
          </a:xfrm>
          <a:prstGeom prst="rect">
            <a:avLst/>
          </a:prstGeom>
        </p:spPr>
        <p:txBody>
          <a:bodyPr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7904480" y="-18098"/>
            <a:ext cx="4297680" cy="6894195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0"/>
          </p:nvPr>
        </p:nvSpPr>
        <p:spPr>
          <a:xfrm>
            <a:off x="3024000" y="100800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20800" y="1317600"/>
            <a:ext cx="2206800" cy="5184000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body2"/>
          <p:cNvSpPr>
            <a:spLocks noGrp="1"/>
          </p:cNvSpPr>
          <p:nvPr>
            <p:ph sz="quarter" idx="11"/>
          </p:nvPr>
        </p:nvSpPr>
        <p:spPr>
          <a:xfrm>
            <a:off x="3024000" y="186144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body3"/>
          <p:cNvSpPr>
            <a:spLocks noGrp="1"/>
          </p:cNvSpPr>
          <p:nvPr>
            <p:ph sz="quarter" idx="12"/>
          </p:nvPr>
        </p:nvSpPr>
        <p:spPr>
          <a:xfrm>
            <a:off x="3024000" y="270472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body4"/>
          <p:cNvSpPr>
            <a:spLocks noGrp="1"/>
          </p:cNvSpPr>
          <p:nvPr>
            <p:ph sz="quarter" idx="13"/>
          </p:nvPr>
        </p:nvSpPr>
        <p:spPr>
          <a:xfrm>
            <a:off x="3024000" y="355816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body5"/>
          <p:cNvSpPr>
            <a:spLocks noGrp="1"/>
          </p:cNvSpPr>
          <p:nvPr>
            <p:ph sz="quarter" idx="14"/>
          </p:nvPr>
        </p:nvSpPr>
        <p:spPr>
          <a:xfrm>
            <a:off x="3024000" y="440144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body6"/>
          <p:cNvSpPr>
            <a:spLocks noGrp="1"/>
          </p:cNvSpPr>
          <p:nvPr>
            <p:ph sz="quarter" idx="15"/>
          </p:nvPr>
        </p:nvSpPr>
        <p:spPr>
          <a:xfrm>
            <a:off x="3024000" y="525488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7904480" y="-18098"/>
            <a:ext cx="4297680" cy="6894195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0"/>
          </p:nvPr>
        </p:nvSpPr>
        <p:spPr>
          <a:xfrm>
            <a:off x="3024000" y="1008000"/>
            <a:ext cx="4651200" cy="5436000"/>
          </a:xfrm>
          <a:prstGeom prst="rect">
            <a:avLst/>
          </a:prstGeom>
        </p:spPr>
        <p:txBody>
          <a:bodyPr lIns="0" tIns="0"/>
          <a:lstStyle>
            <a:lvl1pPr marL="3429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8001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2573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7145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21717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20800" y="1317600"/>
            <a:ext cx="2206800" cy="5184000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hasis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single.pngsingle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ha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single.pngsingle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hasis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ody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Users/skinnyfish/Downloads/themes/blue/single2.pngsingle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"/>
          <p:cNvSpPr>
            <a:spLocks noGrp="1"/>
          </p:cNvSpPr>
          <p:nvPr>
            <p:ph sz="quarter" idx="10"/>
          </p:nvPr>
        </p:nvSpPr>
        <p:spPr>
          <a:xfrm>
            <a:off x="814740" y="2122180"/>
            <a:ext cx="10800000" cy="41364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814740" y="374250"/>
            <a:ext cx="10800000" cy="615600"/>
          </a:xfrm>
          <a:prstGeom prst="rect">
            <a:avLst/>
          </a:prstGeom>
        </p:spPr>
        <p:txBody>
          <a:bodyPr anchor="t" anchorCtr="0"/>
          <a:lstStyle>
            <a:lvl1pPr algn="l">
              <a:defRPr sz="34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w-pro-list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id="11" name="shape2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5" name="shape1"/>
          <p:cNvPicPr>
            <a:picLocks noChangeAspect="1"/>
          </p:cNvPicPr>
          <p:nvPr userDrawn="1"/>
        </p:nvPicPr>
        <p:blipFill>
          <a:blip r:embed="rId4" cstate="screen"/>
          <a:srcRect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tray"/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w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id="11" name="shape2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5" name="shape1"/>
          <p:cNvPicPr>
            <a:picLocks noChangeAspect="1"/>
          </p:cNvPicPr>
          <p:nvPr userDrawn="1"/>
        </p:nvPicPr>
        <p:blipFill>
          <a:blip r:embed="rId4" cstate="screen"/>
          <a:srcRect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tray"/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w-img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ray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body1"/>
          <p:cNvSpPr>
            <a:spLocks noGrp="1"/>
          </p:cNvSpPr>
          <p:nvPr>
            <p:ph sz="quarter" idx="10"/>
          </p:nvPr>
        </p:nvSpPr>
        <p:spPr>
          <a:xfrm>
            <a:off x="902963" y="4590898"/>
            <a:ext cx="3276442" cy="1404787"/>
          </a:xfrm>
          <a:prstGeom prst="rect">
            <a:avLst/>
          </a:prstGeom>
          <a:noFill/>
          <a:ln>
            <a:noFill/>
          </a:ln>
        </p:spPr>
        <p:txBody>
          <a:bodyPr lIns="3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8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24" name="body2"/>
          <p:cNvSpPr>
            <a:spLocks noGrp="1"/>
          </p:cNvSpPr>
          <p:nvPr>
            <p:ph sz="quarter" idx="29"/>
          </p:nvPr>
        </p:nvSpPr>
        <p:spPr>
          <a:xfrm>
            <a:off x="4492830" y="4573965"/>
            <a:ext cx="3276440" cy="1404787"/>
          </a:xfrm>
          <a:prstGeom prst="rect">
            <a:avLst/>
          </a:prstGeom>
          <a:noFill/>
          <a:ln>
            <a:noFill/>
          </a:ln>
        </p:spPr>
        <p:txBody>
          <a:bodyPr lIns="3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8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26" name="body3"/>
          <p:cNvSpPr>
            <a:spLocks noGrp="1"/>
          </p:cNvSpPr>
          <p:nvPr>
            <p:ph sz="quarter" idx="31"/>
          </p:nvPr>
        </p:nvSpPr>
        <p:spPr>
          <a:xfrm>
            <a:off x="8031895" y="4557032"/>
            <a:ext cx="3276441" cy="1404787"/>
          </a:xfrm>
          <a:prstGeom prst="rect">
            <a:avLst/>
          </a:prstGeom>
          <a:noFill/>
          <a:ln>
            <a:noFill/>
          </a:ln>
        </p:spPr>
        <p:txBody>
          <a:bodyPr lIns="3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8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pic>
        <p:nvPicPr>
          <p:cNvPr id="34" name="list-item-img1" descr="城市街道与高楼大厦  描述已自动生成"/>
          <p:cNvPicPr>
            <a:picLocks noChangeAspect="1"/>
          </p:cNvPicPr>
          <p:nvPr userDrawn="1"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883663" y="1979435"/>
            <a:ext cx="3346542" cy="2484370"/>
          </a:xfrm>
          <a:prstGeom prst="roundRect">
            <a:avLst>
              <a:gd name="adj" fmla="val 9052"/>
            </a:avLst>
          </a:prstGeom>
        </p:spPr>
      </p:pic>
      <p:pic>
        <p:nvPicPr>
          <p:cNvPr id="42" name="list-item-img2" descr="建筑的摆设布局  中度可信度描述已自动生成"/>
          <p:cNvPicPr>
            <a:picLocks noChangeAspect="1"/>
          </p:cNvPicPr>
          <p:nvPr userDrawn="1"/>
        </p:nvPicPr>
        <p:blipFill rotWithShape="1">
          <a:blip r:embed="rId4" cstate="screen"/>
          <a:srcRect/>
          <a:stretch>
            <a:fillRect/>
          </a:stretch>
        </p:blipFill>
        <p:spPr>
          <a:xfrm>
            <a:off x="4486774" y="1979435"/>
            <a:ext cx="3280700" cy="2487600"/>
          </a:xfrm>
          <a:prstGeom prst="roundRect">
            <a:avLst>
              <a:gd name="adj" fmla="val 9033"/>
            </a:avLst>
          </a:prstGeom>
        </p:spPr>
      </p:pic>
      <p:pic>
        <p:nvPicPr>
          <p:cNvPr id="44" name="list-item-img3" descr="图片包含 户外, 建筑, 男人, 空气  描述已自动生成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8019783" y="1976561"/>
            <a:ext cx="3288553" cy="2467436"/>
          </a:xfrm>
          <a:prstGeom prst="roundRect">
            <a:avLst>
              <a:gd name="adj" fmla="val 8644"/>
            </a:avLst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w-pro-lis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hape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884580" y="2028742"/>
            <a:ext cx="4930226" cy="3861021"/>
          </a:xfrm>
          <a:prstGeom prst="rect">
            <a:avLst/>
          </a:prstGeom>
        </p:spPr>
      </p:pic>
      <p:pic>
        <p:nvPicPr>
          <p:cNvPr id="9" name="shape2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6377190" y="2028743"/>
            <a:ext cx="4930228" cy="3861021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03514" y="2022938"/>
            <a:ext cx="4911291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lang="en-US" sz="1800" b="1" kern="1200" dirty="0">
                <a:solidFill>
                  <a:schemeClr val="bg1"/>
                </a:solidFill>
                <a:effectLst/>
                <a:latin typeface="Poppins Regular" panose="02000000000000000000" charset="0"/>
                <a:ea typeface="+mn-ea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marL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Font typeface="Arial" panose="020B0604020202090204" pitchFamily="34" charset="0"/>
              <a:buNone/>
            </a:pPr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065524" y="2584557"/>
            <a:ext cx="4570790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lang="en-US" sz="4400" b="1" kern="1200" dirty="0">
                <a:solidFill>
                  <a:srgbClr val="93ABDF"/>
                </a:solidFill>
                <a:latin typeface="Poppins Light" panose="02000000000000000000" charset="0"/>
                <a:ea typeface="+mn-ea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9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6396126" y="2022938"/>
            <a:ext cx="4911291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6567585" y="2609817"/>
            <a:ext cx="4570791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lang="en-US" sz="4400" b="1" kern="1200" dirty="0">
                <a:solidFill>
                  <a:srgbClr val="93ABDF"/>
                </a:solidFill>
                <a:latin typeface="Poppins Light" panose="02000000000000000000" charset="0"/>
                <a:ea typeface="+mn-ea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9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pic>
        <p:nvPicPr>
          <p:cNvPr id="5" name="tray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8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hape3" descr="A blue and purple circle with a white circle in the middle  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87997" y="4202748"/>
            <a:ext cx="1386840" cy="1386840"/>
          </a:xfrm>
          <a:prstGeom prst="rect">
            <a:avLst/>
          </a:prstGeom>
        </p:spPr>
      </p:pic>
      <p:pic>
        <p:nvPicPr>
          <p:cNvPr id="10" name="shape1" descr="A blue and purple circle with a black background  Description automatically generated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5448" y="2595880"/>
            <a:ext cx="1386840" cy="1386840"/>
          </a:xfrm>
          <a:prstGeom prst="rect">
            <a:avLst/>
          </a:prstGeom>
        </p:spPr>
      </p:pic>
      <p:pic>
        <p:nvPicPr>
          <p:cNvPr id="16" name="shape2" descr="A blue and purple circle with a black background  Description automatically generated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49035" y="2595880"/>
            <a:ext cx="1386840" cy="1386840"/>
          </a:xfrm>
          <a:prstGeom prst="rect">
            <a:avLst/>
          </a:prstGeom>
        </p:spPr>
      </p:pic>
      <p:pic>
        <p:nvPicPr>
          <p:cNvPr id="18" name="shape4" descr="A blue and purple circle with a white circle in the middle  Description automatically generated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235700" y="4210050"/>
            <a:ext cx="1386840" cy="1386840"/>
          </a:xfrm>
          <a:prstGeom prst="rect">
            <a:avLst/>
          </a:prstGeom>
        </p:spPr>
      </p:pic>
      <p:pic>
        <p:nvPicPr>
          <p:cNvPr id="20" name="tray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898360" y="2362922"/>
            <a:ext cx="3465094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r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20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r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7689736" y="2349781"/>
            <a:ext cx="3583858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20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body4"/>
          <p:cNvSpPr>
            <a:spLocks noGrp="1"/>
          </p:cNvSpPr>
          <p:nvPr>
            <p:ph sz="quarter" idx="25"/>
          </p:nvPr>
        </p:nvSpPr>
        <p:spPr>
          <a:xfrm>
            <a:off x="7727950" y="4348480"/>
            <a:ext cx="3583940" cy="1240790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20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4" name="body3"/>
          <p:cNvSpPr>
            <a:spLocks noGrp="1"/>
          </p:cNvSpPr>
          <p:nvPr>
            <p:ph sz="quarter" idx="26"/>
          </p:nvPr>
        </p:nvSpPr>
        <p:spPr>
          <a:xfrm>
            <a:off x="915634" y="4348141"/>
            <a:ext cx="3465094" cy="1241447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r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20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r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5" name="number1"/>
          <p:cNvSpPr>
            <a:spLocks noGrp="1"/>
          </p:cNvSpPr>
          <p:nvPr>
            <p:ph sz="quarter" idx="14"/>
          </p:nvPr>
        </p:nvSpPr>
        <p:spPr>
          <a:xfrm>
            <a:off x="4636866" y="3011588"/>
            <a:ext cx="1289102" cy="6153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number2"/>
          <p:cNvSpPr>
            <a:spLocks noGrp="1"/>
          </p:cNvSpPr>
          <p:nvPr>
            <p:ph sz="quarter" idx="27"/>
          </p:nvPr>
        </p:nvSpPr>
        <p:spPr>
          <a:xfrm>
            <a:off x="6266034" y="3007140"/>
            <a:ext cx="1289102" cy="6153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number3"/>
          <p:cNvSpPr>
            <a:spLocks noGrp="1"/>
          </p:cNvSpPr>
          <p:nvPr>
            <p:ph sz="quarter" idx="28"/>
          </p:nvPr>
        </p:nvSpPr>
        <p:spPr>
          <a:xfrm>
            <a:off x="4678830" y="4668741"/>
            <a:ext cx="1289102" cy="6153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number4"/>
          <p:cNvSpPr>
            <a:spLocks noGrp="1"/>
          </p:cNvSpPr>
          <p:nvPr>
            <p:ph sz="quarter" idx="29"/>
          </p:nvPr>
        </p:nvSpPr>
        <p:spPr>
          <a:xfrm>
            <a:off x="6266180" y="4672330"/>
            <a:ext cx="1289050" cy="61468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lang="en-US" sz="3400" b="1" kern="1200" smtClean="0">
                <a:solidFill>
                  <a:schemeClr val="tx1"/>
                </a:solidFill>
                <a:latin typeface="Poppins SemiBold" panose="02000000000000000000" charset="0"/>
                <a:ea typeface="+mj-ea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8869488" y="3106988"/>
            <a:ext cx="3136348" cy="1146150"/>
          </a:xfrm>
          <a:prstGeom prst="rect">
            <a:avLst/>
          </a:prstGeom>
          <a:noFill/>
          <a:ln>
            <a:noFill/>
          </a:ln>
        </p:spPr>
        <p:txBody>
          <a:bodyPr lIns="72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8869487" y="2227580"/>
            <a:ext cx="3136349" cy="575945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body2"/>
          <p:cNvSpPr>
            <a:spLocks noGrp="1"/>
          </p:cNvSpPr>
          <p:nvPr>
            <p:ph sz="quarter" idx="11"/>
          </p:nvPr>
        </p:nvSpPr>
        <p:spPr>
          <a:xfrm>
            <a:off x="8857614" y="4425150"/>
            <a:ext cx="3136348" cy="1704290"/>
          </a:xfrm>
          <a:prstGeom prst="rect">
            <a:avLst/>
          </a:prstGeom>
          <a:noFill/>
          <a:ln>
            <a:noFill/>
          </a:ln>
        </p:spPr>
        <p:txBody>
          <a:bodyPr lIns="72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pic>
        <p:nvPicPr>
          <p:cNvPr id="4" name="tray" descr="建筑的摆设布局  中度可信度描述已自动生成"/>
          <p:cNvPicPr>
            <a:picLocks noChangeAspect="1"/>
          </p:cNvPicPr>
          <p:nvPr userDrawn="1"/>
        </p:nvPicPr>
        <p:blipFill rotWithShape="1">
          <a:blip r:embed="rId2" cstate="screen"/>
          <a:srcRect r="-1"/>
          <a:stretch>
            <a:fillRect/>
          </a:stretch>
        </p:blipFill>
        <p:spPr>
          <a:xfrm>
            <a:off x="333554" y="358776"/>
            <a:ext cx="8153221" cy="6140448"/>
          </a:xfrm>
          <a:prstGeom prst="roundRect">
            <a:avLst>
              <a:gd name="adj" fmla="val 5599"/>
            </a:avLst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hape1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16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8" name="shape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pic>
        <p:nvPicPr>
          <p:cNvPr id="2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 flipH="1">
            <a:off x="-10048" y="-10049"/>
            <a:ext cx="4295746" cy="68910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list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1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4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5" name="shape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sp>
        <p:nvSpPr>
          <p:cNvPr id="6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0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2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pro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hape1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16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8" name="shape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pic>
        <p:nvPicPr>
          <p:cNvPr id="2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 flipH="1">
            <a:off x="-10048" y="-10049"/>
            <a:ext cx="4295746" cy="68910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flipH="1">
            <a:off x="-10048" y="-10049"/>
            <a:ext cx="4295746" cy="6891093"/>
          </a:xfrm>
          <a:prstGeom prst="rect">
            <a:avLst/>
          </a:prstGeom>
        </p:spPr>
      </p:pic>
      <p:sp>
        <p:nvSpPr>
          <p:cNvPr id="9" name="body"/>
          <p:cNvSpPr>
            <a:spLocks noGrp="1"/>
          </p:cNvSpPr>
          <p:nvPr>
            <p:ph sz="quarter" idx="10"/>
          </p:nvPr>
        </p:nvSpPr>
        <p:spPr>
          <a:xfrm>
            <a:off x="5735999" y="1942140"/>
            <a:ext cx="6120000" cy="4641215"/>
          </a:xfrm>
          <a:prstGeom prst="rect">
            <a:avLst/>
          </a:prstGeom>
        </p:spPr>
        <p:txBody>
          <a:bodyPr/>
          <a:lstStyle>
            <a:lvl1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5627999" y="1146515"/>
            <a:ext cx="6159600" cy="583200"/>
          </a:xfrm>
          <a:prstGeom prst="rect">
            <a:avLst/>
          </a:prstGeom>
        </p:spPr>
        <p:txBody>
          <a:bodyPr/>
          <a:lstStyle>
            <a:lvl1pPr>
              <a:defRPr sz="32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-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cover.pngcover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5" name="body"/>
          <p:cNvSpPr>
            <a:spLocks noGrp="1"/>
          </p:cNvSpPr>
          <p:nvPr>
            <p:ph sz="quarter" idx="10"/>
          </p:nvPr>
        </p:nvSpPr>
        <p:spPr>
          <a:xfrm>
            <a:off x="828675" y="3121660"/>
            <a:ext cx="10810240" cy="2757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38200" y="1418590"/>
            <a:ext cx="10800080" cy="1805305"/>
          </a:xfrm>
          <a:prstGeom prst="rect">
            <a:avLst/>
          </a:prstGeom>
        </p:spPr>
        <p:txBody>
          <a:bodyPr bIns="0"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cover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cover.pngcover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0"/>
          </p:nvPr>
        </p:nvSpPr>
        <p:spPr>
          <a:xfrm>
            <a:off x="828675" y="3121660"/>
            <a:ext cx="10810240" cy="2757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38200" y="1418590"/>
            <a:ext cx="10800080" cy="1805305"/>
          </a:xfrm>
          <a:prstGeom prst="rect">
            <a:avLst/>
          </a:prstGeom>
        </p:spPr>
        <p:txBody>
          <a:bodyPr bIns="0"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slideLayouts/slideLayout13.xml" Type="http://schemas.openxmlformats.org/officeDocument/2006/relationships/slideLayout"/><Relationship Id="rId14" Target="../slideLayouts/slideLayout14.xml" Type="http://schemas.openxmlformats.org/officeDocument/2006/relationships/slideLayout"/><Relationship Id="rId15" Target="../slideLayouts/slideLayout15.xml" Type="http://schemas.openxmlformats.org/officeDocument/2006/relationships/slideLayout"/><Relationship Id="rId16" Target="../slideLayouts/slideLayout16.xml" Type="http://schemas.openxmlformats.org/officeDocument/2006/relationships/slideLayout"/><Relationship Id="rId17" Target="../slideLayouts/slideLayout17.xml" Type="http://schemas.openxmlformats.org/officeDocument/2006/relationships/slideLayout"/><Relationship Id="rId18" Target="../slideLayouts/slideLayout18.xml" Type="http://schemas.openxmlformats.org/officeDocument/2006/relationships/slideLayout"/><Relationship Id="rId19" Target="../slideLayouts/slideLayout19.xml" Type="http://schemas.openxmlformats.org/officeDocument/2006/relationships/slideLayout"/><Relationship Id="rId2" Target="../slideLayouts/slideLayout2.xml" Type="http://schemas.openxmlformats.org/officeDocument/2006/relationships/slideLayout"/><Relationship Id="rId20" Target="../slideLayouts/slideLayout20.xml" Type="http://schemas.openxmlformats.org/officeDocument/2006/relationships/slideLayout"/><Relationship Id="rId21" Target="../slideLayouts/slideLayout21.xml" Type="http://schemas.openxmlformats.org/officeDocument/2006/relationships/slideLayout"/><Relationship Id="rId22" Target="../theme/theme1.xml" Type="http://schemas.openxmlformats.org/officeDocument/2006/relationships/theme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20.jpe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21.jpeg" Type="http://schemas.openxmlformats.org/officeDocument/2006/relationships/image"/></Relationships>
</file>

<file path=ppt/slides/_rels/slide3.xml.rels><?xml version="1.0" encoding="UTF-8" standalone="no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22.jpe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19.png" Type="http://schemas.openxmlformats.org/officeDocument/2006/relationships/image"/><Relationship Id="rId3" Target="../media/image23.jpe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24.jpe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1.xml.rels><?xml version="1.0" encoding="UTF-8" standalone="no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2.xml.rels><?xml version="1.0" encoding="UTF-8" standalone="no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3.xml.rels><?xml version="1.0" encoding="UTF-8" standalone="no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22.jpeg" Type="http://schemas.openxmlformats.org/officeDocument/2006/relationships/image"/></Relationships>
</file>

<file path=ppt/slides/_rels/slide14.xml.rels><?xml version="1.0" encoding="UTF-8" standalone="no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5.xml.rels><?xml version="1.0" encoding="UTF-8" standalone="no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6.xml.rels><?xml version="1.0" encoding="UTF-8" standalone="no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7.xml.rels><?xml version="1.0" encoding="UTF-8" standalone="no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8.xml.rels><?xml version="1.0" encoding="UTF-8" standalone="no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22.jpeg" Type="http://schemas.openxmlformats.org/officeDocument/2006/relationships/image"/></Relationships>
</file>

<file path=ppt/slides/_rels/slide19.xml.rels><?xml version="1.0" encoding="UTF-8" standalone="no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20.xml.rels><?xml version="1.0" encoding="UTF-8" standalone="no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21.xml.rels><?xml version="1.0" encoding="UTF-8" standalone="no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22.xml.rels><?xml version="1.0" encoding="UTF-8" standalone="no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23.xml.rels><?xml version="1.0" encoding="UTF-8" standalone="no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2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tray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6" name="body1"/>
          <p:cNvSpPr>
            <a:spLocks noGrp="1"/>
          </p:cNvSpPr>
          <p:nvPr>
            <p:ph sz="quarter" idx="10"/>
          </p:nvPr>
        </p:nvSpPr>
        <p:spPr>
          <a:xfrm>
            <a:off x="785495" y="2109470"/>
            <a:ext cx="10810240" cy="2757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Presenter: PopAi AI Creation</a:t>
            </a:r>
          </a:p>
          <a:p>
            <a:pPr lvl="1"/>
            <a:r>
              <a:rPr lang="en-US"/>
              <a:t/>
            </a:r>
          </a:p>
          <a:p>
            <a:pPr lvl="2"/>
            <a:r>
              <a:rPr lang="en-US"/>
              <a:t/>
            </a:r>
          </a:p>
          <a:p>
            <a:pPr lvl="3"/>
            <a:r>
              <a:rPr lang="en-US"/>
              <a:t/>
            </a:r>
          </a:p>
          <a:p>
            <a:pPr lvl="4"/>
            <a:r>
              <a:rPr lang="en-US"/>
              <a:t/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795020" y="460375"/>
            <a:ext cx="10800080" cy="1805305"/>
          </a:xfrm>
          <a:prstGeom prst="rect">
            <a:avLst/>
          </a:prstGeom>
        </p:spPr>
        <p:txBody>
          <a:bodyPr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Understanding Iteration in Coding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tray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480" y="-18098"/>
            <a:ext cx="4297680" cy="6894195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0"/>
          </p:nvPr>
        </p:nvSpPr>
        <p:spPr>
          <a:xfrm>
            <a:off x="3024000" y="100800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1. The Concept of Iteration</a:t>
            </a:r>
          </a:p>
          <a:p>
            <a:pPr lvl="1"/>
            <a:r>
              <a:rPr lang="en-US" dirty="0"/>
              <a:t/>
            </a:r>
          </a:p>
          <a:p>
            <a:pPr lvl="2"/>
            <a:r>
              <a:rPr lang="en-US" dirty="0"/>
              <a:t/>
            </a:r>
          </a:p>
          <a:p>
            <a:pPr lvl="3"/>
            <a:r>
              <a:rPr lang="en-US" dirty="0"/>
              <a:t/>
            </a:r>
          </a:p>
          <a:p>
            <a:pPr lvl="4"/>
            <a:r>
              <a:rPr lang="en-US" dirty="0"/>
              <a:t/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20800" y="1317600"/>
            <a:ext cx="2206800" cy="5184000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Content</a:t>
            </a:r>
          </a:p>
        </p:txBody>
      </p:sp>
      <p:sp>
        <p:nvSpPr>
          <p:cNvPr id="4" name="body2"/>
          <p:cNvSpPr>
            <a:spLocks noGrp="1"/>
          </p:cNvSpPr>
          <p:nvPr>
            <p:ph sz="quarter" idx="11"/>
          </p:nvPr>
        </p:nvSpPr>
        <p:spPr>
          <a:xfrm>
            <a:off x="3024000" y="186144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2. Practical Applications of Iteration</a:t>
            </a:r>
          </a:p>
          <a:p>
            <a:pPr lvl="1"/>
            <a:r>
              <a:rPr lang="en-US" dirty="0"/>
              <a:t/>
            </a:r>
          </a:p>
          <a:p>
            <a:pPr lvl="2"/>
            <a:r>
              <a:rPr lang="en-US" dirty="0"/>
              <a:t/>
            </a:r>
          </a:p>
          <a:p>
            <a:pPr lvl="3"/>
            <a:r>
              <a:rPr lang="en-US" dirty="0"/>
              <a:t/>
            </a:r>
          </a:p>
          <a:p>
            <a:pPr lvl="4"/>
            <a:r>
              <a:rPr lang="en-US" dirty="0"/>
              <a:t/>
            </a:r>
          </a:p>
        </p:txBody>
      </p:sp>
      <p:sp>
        <p:nvSpPr>
          <p:cNvPr id="6" name="body3"/>
          <p:cNvSpPr>
            <a:spLocks noGrp="1"/>
          </p:cNvSpPr>
          <p:nvPr>
            <p:ph sz="quarter" idx="12"/>
          </p:nvPr>
        </p:nvSpPr>
        <p:spPr>
          <a:xfrm>
            <a:off x="3024000" y="270472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3. Advantages and Best Practices of Iteration</a:t>
            </a:r>
          </a:p>
          <a:p>
            <a:pPr lvl="1"/>
            <a:r>
              <a:rPr lang="en-US" dirty="0"/>
              <a:t/>
            </a:r>
          </a:p>
          <a:p>
            <a:pPr lvl="2"/>
            <a:r>
              <a:rPr lang="en-US" dirty="0"/>
              <a:t/>
            </a:r>
          </a:p>
          <a:p>
            <a:pPr lvl="3"/>
            <a:r>
              <a:rPr lang="en-US" dirty="0"/>
              <a:t/>
            </a:r>
          </a:p>
          <a:p>
            <a:pPr lvl="4"/>
            <a:r>
              <a:rPr lang="en-US" dirty="0"/>
              <a:t/>
            </a:r>
          </a:p>
        </p:txBody>
      </p:sp>
      <p:sp>
        <p:nvSpPr>
          <p:cNvPr id="7" name="body4"/>
          <p:cNvSpPr>
            <a:spLocks noGrp="1"/>
          </p:cNvSpPr>
          <p:nvPr>
            <p:ph sz="quarter" idx="13"/>
          </p:nvPr>
        </p:nvSpPr>
        <p:spPr>
          <a:xfrm>
            <a:off x="3024000" y="355816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4. Challenges and Considerations in Iteration</a:t>
            </a:r>
          </a:p>
          <a:p>
            <a:pPr lvl="1"/>
            <a:r>
              <a:rPr lang="en-US" dirty="0"/>
              <a:t/>
            </a:r>
          </a:p>
          <a:p>
            <a:pPr lvl="2"/>
            <a:r>
              <a:rPr lang="en-US" dirty="0"/>
              <a:t/>
            </a:r>
          </a:p>
          <a:p>
            <a:pPr lvl="3"/>
            <a:r>
              <a:rPr lang="en-US" dirty="0"/>
              <a:t/>
            </a:r>
          </a:p>
          <a:p>
            <a:pPr lvl="4"/>
            <a:r>
              <a:rPr lang="en-US" dirty="0"/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tray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 dirty="0"/>
              <a:t>Section 1</a:t>
            </a:r>
          </a:p>
          <a:p>
            <a:pPr lvl="1"/>
            <a:r>
              <a:rPr lang="en-US" dirty="0"/>
              <a:t/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/>
              <a:t>The Concept of Iteration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ape3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name="shape2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name="shape1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name="tray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Repetition of Processes</a:t>
            </a:r>
          </a:p>
          <a:p>
            <a:pPr lvl="4"/>
            <a:r>
              <a:rPr lang="en-US" dirty="0"/>
              <a:t>Iteration in coding involves the repetition of a sequence of instructions or code until a specific condition is met.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Looping Constructs</a:t>
            </a:r>
          </a:p>
          <a:p>
            <a:pPr lvl="4"/>
            <a:r>
              <a:rPr lang="en-US" dirty="0"/>
              <a:t>Iteration is often achieved using looping constructs such as 'for' and 'while' loops in programming languages.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Generating Sequences</a:t>
            </a:r>
          </a:p>
          <a:p>
            <a:pPr lvl="4"/>
            <a:r>
              <a:rPr lang="en-US" dirty="0"/>
              <a:t>It allows the generation of a sequence of outcomes through the repeated execution of a process.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Definition of Iteration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ape1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name="shape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name="shape2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pic>
        <p:nvPicPr>
          <p:cNvPr name="tray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48" y="-10049"/>
            <a:ext cx="4295746" cy="6891093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Efficiency in Tasks</a:t>
            </a:r>
          </a:p>
          <a:p>
            <a:pPr lvl="4"/>
            <a:r>
              <a:rPr lang="en-US" dirty="0"/>
              <a:t>Iteration enables the automation of repetitive tasks, saving time and effort in coding.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/>
              <a:t>Importance of Iteration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Handling Large Datasets</a:t>
            </a:r>
          </a:p>
          <a:p>
            <a:pPr lvl="4"/>
            <a:r>
              <a:rPr lang="en-US" dirty="0"/>
              <a:t>It facilitates the processing of large datasets by performing the same operations on multiple data points.</a:t>
            </a:r>
          </a:p>
        </p:txBody>
      </p:sp>
      <p:sp>
        <p:nvSpPr>
          <p:cNvPr id="14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Adaptability and Flexibility</a:t>
            </a:r>
          </a:p>
          <a:p>
            <a:pPr lvl="4"/>
            <a:r>
              <a:rPr lang="en-US" dirty="0"/>
              <a:t>Iteration allows for adaptable and flexible code that can handle varying inputs and conditions.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ape3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name="shape2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name="shape1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name="tray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Count-Controlled Iteration</a:t>
            </a:r>
          </a:p>
          <a:p>
            <a:pPr lvl="4"/>
            <a:r>
              <a:rPr lang="en-US" dirty="0"/>
              <a:t>Involves executing a set of statements a specific number of times, often using a counter variable.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Collection-Controlled Iteration</a:t>
            </a:r>
          </a:p>
          <a:p>
            <a:pPr lvl="4"/>
            <a:r>
              <a:rPr lang="en-US" dirty="0"/>
              <a:t>Involves iterating through a collection of items, such as arrays or lists, using constructs like 'for' loops.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Condition-Controlled Iteration</a:t>
            </a:r>
          </a:p>
          <a:p>
            <a:pPr lvl="4"/>
            <a:r>
              <a:rPr lang="en-US" dirty="0"/>
              <a:t>Executes a set of statements as long as a specified condition is true, using constructs like 'while' loops.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Types of Iteration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ape3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name="shape2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name="shape1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name="tray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Repetition of Processes</a:t>
            </a:r>
          </a:p>
          <a:p>
            <a:pPr lvl="4"/>
            <a:r>
              <a:rPr lang="en-US" dirty="0"/>
              <a:t>Both iteration and recursion involve the repetition of processes to achieve specific outcomes.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Complexity and Readability</a:t>
            </a:r>
          </a:p>
          <a:p>
            <a:pPr lvl="4"/>
            <a:r>
              <a:rPr lang="en-US" dirty="0"/>
              <a:t>Iteration is often preferred for its simplicity and readability, especially for repetitive tasks in coding.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Stack Space Usage</a:t>
            </a:r>
          </a:p>
          <a:p>
            <a:pPr lvl="4"/>
            <a:r>
              <a:rPr lang="en-US" dirty="0"/>
              <a:t>Recursion may require additional stack space, while iteration typically does not, making it more memory-efficient.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Iteration vs. Recursion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tray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 dirty="0"/>
              <a:t>Section 2</a:t>
            </a:r>
          </a:p>
          <a:p>
            <a:pPr lvl="1"/>
            <a:r>
              <a:rPr lang="en-US" dirty="0"/>
              <a:t/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/>
              <a:t>Practical Applications of Iteration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ape3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name="shape2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name="shape1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name="tray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Data Validation</a:t>
            </a:r>
          </a:p>
          <a:p>
            <a:pPr lvl="4"/>
            <a:r>
              <a:rPr lang="en-US" dirty="0"/>
              <a:t>Iteration is used to validate and process large volumes of data, ensuring accuracy and consistency.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Statistical Calculations</a:t>
            </a:r>
          </a:p>
          <a:p>
            <a:pPr lvl="4"/>
            <a:r>
              <a:rPr lang="en-US" dirty="0"/>
              <a:t>Iteration is essential for performing statistical calculations on datasets, such as mean, median, and standard deviation.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Data Transformation</a:t>
            </a:r>
          </a:p>
          <a:p>
            <a:pPr lvl="4"/>
            <a:r>
              <a:rPr lang="en-US" dirty="0"/>
              <a:t>It facilitates the transformation of data by applying the same operations to multiple data points.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Data Processing and Analysis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ape3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name="shape2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name="shape1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name="tray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Search and Sort Algorithms</a:t>
            </a:r>
          </a:p>
          <a:p>
            <a:pPr lvl="4"/>
            <a:r>
              <a:rPr lang="en-US" dirty="0"/>
              <a:t>Iteration is fundamental in implementing search and sort algorithms to process and organize data efficiently.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Optimization Techniques</a:t>
            </a:r>
          </a:p>
          <a:p>
            <a:pPr lvl="4"/>
            <a:r>
              <a:rPr lang="en-US" dirty="0"/>
              <a:t>Iteration is employed in optimization algorithms to iteratively improve solutions until an optimal outcome is achieved.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Pattern Matching</a:t>
            </a:r>
          </a:p>
          <a:p>
            <a:pPr lvl="4"/>
            <a:r>
              <a:rPr lang="en-US" dirty="0"/>
              <a:t>It enables the identification of patterns within data through repeated comparisons and evaluations.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Algorithmic Problem Solving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ape3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name="shape2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name="shape1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name="tray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Event Handling</a:t>
            </a:r>
          </a:p>
          <a:p>
            <a:pPr lvl="4"/>
            <a:r>
              <a:rPr lang="en-US" dirty="0"/>
              <a:t>Iteration is used to handle user interactions and events within graphical user interfaces, such as processing mouse clicks or keyboard inputs.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Input Validation</a:t>
            </a:r>
          </a:p>
          <a:p>
            <a:pPr lvl="4"/>
            <a:r>
              <a:rPr lang="en-US" dirty="0"/>
              <a:t>Iteration is employed to validate user inputs and provide feedback until valid input is received.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Animation and Graphics</a:t>
            </a:r>
          </a:p>
          <a:p>
            <a:pPr lvl="4"/>
            <a:r>
              <a:rPr lang="en-US" dirty="0"/>
              <a:t>It facilitates the creation of animations and graphics by iteratively updating the display to create dynamic visual effects.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User Interface Design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ape3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name="shape2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name="shape1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name="tray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Agile Methodologies</a:t>
            </a:r>
          </a:p>
          <a:p>
            <a:pPr lvl="4"/>
            <a:r>
              <a:rPr lang="en-US" dirty="0"/>
              <a:t>Iteration is a core principle in agile development, where software is developed incrementally through iterative cycles.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Adaptation to Change</a:t>
            </a:r>
          </a:p>
          <a:p>
            <a:pPr lvl="4"/>
            <a:r>
              <a:rPr lang="en-US" dirty="0"/>
              <a:t>Iteration enables the adaptation to changing requirements and the incremental delivery of features in software development.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Feedback Integration</a:t>
            </a:r>
          </a:p>
          <a:p>
            <a:pPr lvl="4"/>
            <a:r>
              <a:rPr lang="en-US" dirty="0"/>
              <a:t>It allows for the integration of user feedback and continuous improvement throughout the development process.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Iterative Development Process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tray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 dirty="0"/>
              <a:t>Section 3</a:t>
            </a:r>
          </a:p>
          <a:p>
            <a:pPr lvl="1"/>
            <a:r>
              <a:rPr lang="en-US" dirty="0"/>
              <a:t/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/>
              <a:t>Advantages and Best Practices of Iteration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ape3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name="shape2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name="shape1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name="tray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Reusable Components</a:t>
            </a:r>
          </a:p>
          <a:p>
            <a:pPr lvl="4"/>
            <a:r>
              <a:rPr lang="en-US" dirty="0"/>
              <a:t>Iteration promotes the creation of reusable code components that can be applied across different parts of a program.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Scalability</a:t>
            </a:r>
          </a:p>
          <a:p>
            <a:pPr lvl="4"/>
            <a:r>
              <a:rPr lang="en-US" dirty="0"/>
              <a:t>Iteration supports the scalability of code by allowing the reuse of existing logic in various contexts.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Modular Design</a:t>
            </a:r>
          </a:p>
          <a:p>
            <a:pPr lvl="4"/>
            <a:r>
              <a:rPr lang="en-US" dirty="0"/>
              <a:t>It encourages a modular design approach, where code is organized into smaller, manageable units for easier maintenance and updates.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Code Reusability and Modularity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ape3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name="shape2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name="shape1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name="tray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Error Identification</a:t>
            </a:r>
          </a:p>
          <a:p>
            <a:pPr lvl="4"/>
            <a:r>
              <a:rPr lang="en-US" dirty="0"/>
              <a:t>Iteration aids in identifying and handling errors by iteratively testing and validating code against different scenarios.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Debugging Support</a:t>
            </a:r>
          </a:p>
          <a:p>
            <a:pPr lvl="4"/>
            <a:r>
              <a:rPr lang="en-US" dirty="0"/>
              <a:t>Iteration assists in the debugging process by iteratively tracing and isolating issues within the code.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Exception Handling</a:t>
            </a:r>
          </a:p>
          <a:p>
            <a:pPr lvl="4"/>
            <a:r>
              <a:rPr lang="en-US" dirty="0"/>
              <a:t>It allows for the implementation of exception handling mechanisms to gracefully manage unexpected situations during program execution.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Error Detection and Handling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ape3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name="shape2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name="shape1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name="tray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Iterative Refinement</a:t>
            </a:r>
          </a:p>
          <a:p>
            <a:pPr lvl="4"/>
            <a:r>
              <a:rPr lang="en-US" dirty="0"/>
              <a:t>It enables the continuous refinement and enhancement of code through incremental updates and optimizations.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Feedback Integration</a:t>
            </a:r>
          </a:p>
          <a:p>
            <a:pPr lvl="4"/>
            <a:r>
              <a:rPr lang="en-US" dirty="0"/>
              <a:t>It facilitates the integration of user feedback and stakeholder input to drive iterative improvements.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Adaptation to Requirements</a:t>
            </a:r>
          </a:p>
          <a:p>
            <a:pPr lvl="4"/>
            <a:r>
              <a:rPr lang="en-US" dirty="0"/>
              <a:t>Iteration supports the adaptation of code to changing requirements and evolving business needs.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Continuous Improvement and Adaptation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ape3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name="shape2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name="shape1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name="tray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Team Collaboration</a:t>
            </a:r>
          </a:p>
          <a:p>
            <a:pPr lvl="4"/>
            <a:r>
              <a:rPr lang="en-US" dirty="0"/>
              <a:t>Iteration fosters collaborative development practices by breaking down complex tasks into manageable iterations.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Continuous Integration</a:t>
            </a:r>
          </a:p>
          <a:p>
            <a:pPr lvl="4"/>
            <a:r>
              <a:rPr lang="en-US" dirty="0"/>
              <a:t>Iteration supports continuous integration and delivery practices, allowing for the seamless integration of code changes.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Agile Workflows</a:t>
            </a:r>
          </a:p>
          <a:p>
            <a:pPr lvl="4"/>
            <a:r>
              <a:rPr lang="en-US" dirty="0"/>
              <a:t>It aligns with agile methodologies, promoting iterative planning, development, and review cycles within development teams.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Collaborative Development Practices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tray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 dirty="0"/>
              <a:t>Section 4</a:t>
            </a:r>
          </a:p>
          <a:p>
            <a:pPr lvl="1"/>
            <a:r>
              <a:rPr lang="en-US" dirty="0"/>
              <a:t/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/>
              <a:t>Challenges and Considerations in Iteration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ape3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name="shape2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name="shape1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name="tray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Optimizing Iterative Processes</a:t>
            </a:r>
          </a:p>
          <a:p>
            <a:pPr lvl="4"/>
            <a:r>
              <a:rPr lang="en-US" dirty="0"/>
              <a:t>Ensuring that iterative processes are optimized for efficiency and minimal resource consumption.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Resource Utilization</a:t>
            </a:r>
          </a:p>
          <a:p>
            <a:pPr lvl="4"/>
            <a:r>
              <a:rPr lang="en-US" dirty="0"/>
              <a:t>Balancing the trade-offs between resource utilization and the benefits of iterative approaches.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Complexity Management</a:t>
            </a:r>
          </a:p>
          <a:p>
            <a:pPr lvl="4"/>
            <a:r>
              <a:rPr lang="en-US" dirty="0"/>
              <a:t>Managing the complexity of iterative code to maintain readability and maintainability.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Performance Considerations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ape3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name="shape2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name="shape1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name="tray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Loop Termination</a:t>
            </a:r>
          </a:p>
          <a:p>
            <a:pPr lvl="4"/>
            <a:r>
              <a:rPr lang="en-US" dirty="0"/>
              <a:t>Ensuring that iterative loops have clear termination conditions to prevent infinite loops and program crashes.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Error Handling</a:t>
            </a:r>
          </a:p>
          <a:p>
            <a:pPr lvl="4"/>
            <a:r>
              <a:rPr lang="en-US" dirty="0"/>
              <a:t>Implementing robust error handling mechanisms to address unexpected issues during iteration.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Control Flow Management</a:t>
            </a:r>
          </a:p>
          <a:p>
            <a:pPr lvl="4"/>
            <a:r>
              <a:rPr lang="en-US" dirty="0"/>
              <a:t>Managing the control flow within iterative processes to handle different scenarios and edge cases effectively.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Iteration Control and Termination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ape3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name="shape2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name="shape1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name="tray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Concurrency and Parallelism</a:t>
            </a:r>
          </a:p>
          <a:p>
            <a:pPr lvl="4"/>
            <a:r>
              <a:rPr lang="en-US" dirty="0"/>
              <a:t>Considering the implications of iteration in parallel and distributed systems to ensure consistency and synchronization.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Scalability and Performance</a:t>
            </a:r>
          </a:p>
          <a:p>
            <a:pPr lvl="4"/>
            <a:r>
              <a:rPr lang="en-US" dirty="0"/>
              <a:t>Optimizing iterative processes for scalability and performance in distributed computing environments.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Data Integrity</a:t>
            </a:r>
          </a:p>
          <a:p>
            <a:pPr lvl="4"/>
            <a:r>
              <a:rPr lang="en-US" dirty="0"/>
              <a:t>Addressing data integrity challenges when multiple iterations operate concurrently on shared data resources.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Iteration in Parallel and Distributed Systems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ape3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name="shape2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name="shape1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name="tray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Machine Learning and AI</a:t>
            </a:r>
          </a:p>
          <a:p>
            <a:pPr lvl="4"/>
            <a:r>
              <a:rPr lang="en-US" dirty="0"/>
              <a:t>Exploring the integration of iterative approaches in machine learning algorithms and artificial intelligence models.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Iterative Automation</a:t>
            </a:r>
          </a:p>
          <a:p>
            <a:pPr lvl="4"/>
            <a:r>
              <a:rPr lang="en-US" dirty="0"/>
              <a:t>Leveraging iterative automation techniques for repetitive tasks in software development and data processing.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Quantum Computing</a:t>
            </a:r>
          </a:p>
          <a:p>
            <a:pPr lvl="4"/>
            <a:r>
              <a:rPr lang="en-US" dirty="0"/>
              <a:t>Considering the impact of iteration in quantum computing and its potential for solving complex problems iteratively.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Future Trends and Innovations in Iteration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tray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0"/>
          </p:nvPr>
        </p:nvSpPr>
        <p:spPr>
          <a:xfrm>
            <a:off x="828675" y="3121660"/>
            <a:ext cx="10810240" cy="2757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Contact: popai@example.com</a:t>
            </a:r>
          </a:p>
          <a:p>
            <a:pPr lvl="1"/>
            <a:r>
              <a:rPr lang="en-US"/>
              <a:t/>
            </a:r>
          </a:p>
          <a:p>
            <a:pPr lvl="2"/>
            <a:r>
              <a:rPr lang="en-US"/>
              <a:t/>
            </a:r>
          </a:p>
          <a:p>
            <a:pPr lvl="3"/>
            <a:r>
              <a:rPr lang="en-US"/>
              <a:t/>
            </a:r>
          </a:p>
          <a:p>
            <a:pPr lvl="4"/>
            <a:r>
              <a:rPr lang="en-US"/>
              <a:t/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38200" y="1418590"/>
            <a:ext cx="10800080" cy="1805305"/>
          </a:xfrm>
          <a:prstGeom prst="rect">
            <a:avLst/>
          </a:prstGeom>
        </p:spPr>
        <p:txBody>
          <a:bodyPr bIns="0"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Poppins Regular</vt:lpstr>
      <vt:lpstr>Arial</vt:lpstr>
      <vt:lpstr>Poppins Light</vt:lpstr>
      <vt:lpstr>Poppins Medium</vt:lpstr>
      <vt:lpstr>Poppins SemiBold</vt:lpstr>
      <vt:lpstr>Office 主题​​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2024-01-12T07:48:11Z</dcterms:created>
  <dc:creator>SkinnyFish</dc:creator>
  <cp:lastModifiedBy>Tuo Sun</cp:lastModifiedBy>
  <dcterms:modified xsi:type="dcterms:W3CDTF">2024-01-12T08:18:06Z</dcterms:modified>
  <cp:revision>124</cp:revision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9DD6DF833E394729E4E16E651B262C40_43</vt:lpwstr>
  </property>
</Properties>
</file>