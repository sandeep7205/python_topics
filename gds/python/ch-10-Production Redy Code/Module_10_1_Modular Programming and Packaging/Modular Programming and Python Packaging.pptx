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ing" id="{83CA60C5-4623-435E-8D26-906ABCC959B4}">
          <p14:sldIdLst>
            <p14:sldId id="256"/>
          </p14:sldIdLst>
        </p14:section>
        <p14:section name="Starting" id="{888D0478-E8AD-491C-B414-FCCA8DC958BA}">
          <p14:sldIdLst>
            <p14:sldId id="257"/>
          </p14:sldIdLst>
        </p14:section>
        <p14:section name="Understanding Modular Programming" id="{B0664EE8-6DC5-46DE-8220-B21517A4DEA1}">
          <p14:sldIdLst>
            <p14:sldId id="258"/>
            <p14:sldId id="259"/>
            <p14:sldId id="260"/>
            <p14:sldId id="261"/>
          </p14:sldIdLst>
        </p14:section>
        <p14:section name="Python Packaging Basics" id="{707C8A7F-5417-4F8F-9450-014B5443132A}">
          <p14:sldIdLst>
            <p14:sldId id="262"/>
            <p14:sldId id="263"/>
            <p14:sldId id="264"/>
            <p14:sldId id="265"/>
          </p14:sldIdLst>
        </p14:section>
        <p14:section name="Case Studies and Practical Applications" id="{672EFBAA-2F04-4EF1-B465-74ED0921B125}">
          <p14:sldIdLst>
            <p14:sldId id="266"/>
            <p14:sldId id="267"/>
            <p14:sldId id="268"/>
            <p14:sldId id="269"/>
          </p14:sldIdLst>
        </p14:section>
        <p14:section name="Ending" id="{77F9A6CB-EE9F-4348-8F0E-552A551E434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B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2549" autoAdjust="0"/>
  </p:normalViewPr>
  <p:slideViewPr>
    <p:cSldViewPr snapToGrid="0">
      <p:cViewPr varScale="1">
        <p:scale>
          <a:sx n="76" d="100"/>
          <a:sy n="76" d="100"/>
        </p:scale>
        <p:origin x="120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7:54:22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81 172 16193 0 0,'6'-10'-436'0'0,"14"-30"268"0"0,-15 29 113 0 0,-6 1 6 0 0,-3-32 28 0 0,3 32 8 0 0,-9 5-28 0 0,-28-16 68 0 0,29 16-8 0 0,6 5-589 0 0,0-1 491 0 0,1 1 1 0 0,-1-1-1 0 0,0 1 1 0 0,1-1-1 0 0,-1 0 1 0 0,1 0-1 0 0,-1 0 1 0 0,1 0-1 0 0,-5-3 0 0 0,0 1-130 0 0,-1 0-587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5T08:02:2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61 19642,'-49'-7'-68,"5"3"-96,3-2 80,11 3-108,0 1-64,3-1-20,13 2 24,-1-2 48,4-1-260,2 0-548,47-15-9125,-27 15 6540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2:5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54 112 0 0,'0'0'6543'0'0,"-13"-2"-6011"0"0,-37-10-56 0 0,37 10 1606 0 0,44-1-1837 0 0,11 0-160 0 0,110-14 249 0 0,-145 15-297 0 0,1 1-1 0 0,0 0 1 0 0,-1 0 0 0 0,1 1 0 0 0,12 0 0 0 0,36 3-95 0 0,-54-3 19 0 0,127-3-595 0 0,-33-5-4834 0 0,-87 7 2973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2:52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50 640 0 0,'9'-5'768'0'0,"26"-14"-55"0"0,-26 14-53 0 0,1 2-63 0 0,30-11-59 0 0,-29 10 426 0 0,52 6 535 0 0,-55 4-1180 0 0,22 19-22 0 0,-22-19-33 0 0,-4 4-29 0 0,12 31-18 0 0,-14-39-196 0 0,-1 1-1 0 0,0-1 1 0 0,0 0 0 0 0,-1 0 0 0 0,1 0 0 0 0,0 1 0 0 0,-1-1-1 0 0,1 0 1 0 0,-1 1 0 0 0,0-1 0 0 0,0 0 0 0 0,0 1-1 0 0,0-1 1 0 0,0 1 0 0 0,-1 2 0 0 0,0 3 36 0 0,1-1 97 0 0,-4 51 70 0 0,3-46-211 0 0,-1-1-80 0 0,-9 34-87 0 0,8-34-100 0 0,1-3-158 0 0,-6 24-216 0 0,2-18-662 0 0,-11 10-866 0 0,12-17 165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2:54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0 172 236 0 0,'32'-10'926'0'0,"59"-8"-1"0"0,-19 4-362 0 0,335-52 1127 0 0,-396 64-1660 0 0,55-7 130 0 0,216-27 518 0 0,-1 25-133 0 0,-57 13-363 0 0,-223-2-180 0 0,2 0 872 0 0,-8-1-352 0 0,-23-2-194 0 0,9 1-284 0 0,0 0-1 0 0,-20 2 0 0 0,-49 13 106 0 0,-137 39 0 0 0,36-6-75 0 0,-210 12 713 0 0,337-56-275 0 0,60-1-442 0 0,-1-1-8 0 0,-7 0-24 0 0,8 0-41 0 0,5 4-498 0 0,1-1 477 0 0,0 0 0 0 0,0-1 0 0 0,0 1 0 0 0,0-1 0 0 0,1 0 0 0 0,-1 0 0 0 0,1 0 1 0 0,-1-1-1 0 0,1 1 0 0 0,0-1 0 0 0,-1 0 0 0 0,1-1 0 0 0,5 1 0 0 0,59 6-119 0 0,0-3 0 0 0,75-6 1 0 0,139-23-40 0 0,-50 4 52 0 0,-103 13-253 0 0,249 17 0 0 0,-376-9 1947 0 0,-10-2-1432 0 0,-14-2-33 0 0,0 1 0 0 0,0 1-1 0 0,0 1 1 0 0,0 0 0 0 0,-33 5-1 0 0,-115 22 141 0 0,-9 1-44 0 0,50-16 55 0 0,-127 5 501 0 0,83-12 404 0 0,169-4-941 0 0,-6 0-153 0 0,7 0-45 0 0,8 1 90 0 0,49 4-113 0 0,0-3 0 0 0,60-5 1 0 0,123-19-174 0 0,-26 2-55 0 0,99 14-512 0 0,-239 7 365 0 0,-69-1 795 0 0,-12 2-360 0 0,-64 7-51 0 0,-107 18 351 0 0,153-21-1278 0 0,0 2 0 0 0,-36 15 0 0 0,27-9-3561 0 0,23-10 1920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2:45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11 663 196 0 0,'-10'11'5245'0'0,"34"-27"-3094"0"0,-9 5-2296 0 0,239-149 2143 0 0,140-60-569 0 0,-176 118-1065 0 0,104-41-2547 0 0,-272 124-2290 0 0,-42 16 1895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3:40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36 629 20658 0 0,'-14'-7'-192'0'0,"2"3"56"0"0,2-12-232 0 0,20-3 60 0 0,13-11 28 0 0,13-4 4 0 0,33-22 0 0 0,11 1-44 0 0,4 2-104 0 0,10-3-96 0 0,8 5-244 0 0,1 0-281 0 0,11 0-327 0 0,-4 0-1024 0 0,0 5-2600 0 0,-4-2 1151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4:41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1150 110 448 0 0,'0'0'3262'0'0,"-12"-9"-2862"0"0,-37-29-44 0 0,37 28 352 0 0,4 7-377 0 0,-27-10-4 0 0,26 10-5 0 0,2 0-9 0 0,-24-10 5 0 0,24 10 605 0 0,-1 0-634 0 0,-2 1-159 0 0,-20-7 1962 0 0,19 15-2071 0 0,-35 21 9 0 0,45-27-28 0 0,-1 1 1 0 0,1 0-1 0 0,0 0 1 0 0,-1-1-1 0 0,1 1 1 0 0,0 0-1 0 0,0 0 1 0 0,0 0-1 0 0,0 1 1 0 0,0-1-1 0 0,0 0 1 0 0,0 0-1 0 0,0 1 1 0 0,0-1-1 0 0,-1 3 1 0 0,-118 182 279 0 0,-23 40 81 0 0,50-73-168 0 0,2-2 19 0 0,-118 266 0 0 0,192-375-179 0 0,1 1 0 0 0,-17 78 0 0 0,-4 93 38 0 0,3-11-18 0 0,33-196-54 0 0,-60 351 121 0 0,61-349-100 0 0,-1 0 0 0 0,2 0 0 0 0,-1 0 0 0 0,1 0 0 0 0,1 0-1 0 0,-1 0 1 0 0,1-1 0 0 0,1 1 0 0 0,0 0 0 0 0,0-1 0 0 0,5 9-1 0 0,-6-12 1 0 0,1-1-1 0 0,0 1 0 0 0,0 0 0 0 0,1-1 0 0 0,-1 1 1 0 0,1-1-1 0 0,0 0 0 0 0,0 0 0 0 0,0-1 0 0 0,1 1 1 0 0,-1-1-1 0 0,1 0 0 0 0,0 0 0 0 0,0-1 0 0 0,0 1 1 0 0,0-1-1 0 0,0 0 0 0 0,10 2 0 0 0,1-2 12 0 0,-1 0-1 0 0,1-1 0 0 0,0 0 1 0 0,0-2-1 0 0,0 0 1 0 0,16-3-1 0 0,92-26-122 0 0,-88 20-82 0 0,81-27-1751 0 0,-44 8-3326 0 0,-44 16 2217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4:43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0 146 248 0 0,'170'-44'1011'0'0,"92"0"42"0"0,2 17-329 0 0,-88 14-352 0 0,-143 10-308 0 0,316-11 202 0 0,0 14-1 0 0,0 16 0 0 0,521 90 1 0 0,-521-48-2497 0 0,-185-35 936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2-05T08:04:4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74 127 14189 0 0,'-17'-8'-320'0'0,"11"5"271"0"0,-1 1-1 0 0,1-2 0 0 0,0 1 0 0 0,0-1 0 0 0,0 0 0 0 0,1 0 0 0 0,-9-7 1 0 0,13 9-20 0 0,6-1 21 0 0,7-2 39 0 0,1-1 0 0 0,1 2 0 0 0,-1 0 0 0 0,1 0-1 0 0,-1 2 1 0 0,1-1 0 0 0,0 2 0 0 0,23-1 0 0 0,-17 1 3 0 0,28-3-7 0 0,538-34-61 0 0,2 34 10 0 0,-352 20-306 0 0,296 59 0 0 0,-33 40-6799 0 0,-411-87 4239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785495" y="210947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body4"/>
          <p:cNvSpPr>
            <a:spLocks noGrp="1"/>
          </p:cNvSpPr>
          <p:nvPr>
            <p:ph sz="quarter" idx="13"/>
          </p:nvPr>
        </p:nvSpPr>
        <p:spPr>
          <a:xfrm>
            <a:off x="3024000" y="355816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body5"/>
          <p:cNvSpPr>
            <a:spLocks noGrp="1"/>
          </p:cNvSpPr>
          <p:nvPr>
            <p:ph sz="quarter" idx="14"/>
          </p:nvPr>
        </p:nvSpPr>
        <p:spPr>
          <a:xfrm>
            <a:off x="3024000" y="440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6"/>
          <p:cNvSpPr>
            <a:spLocks noGrp="1"/>
          </p:cNvSpPr>
          <p:nvPr>
            <p:ph sz="quarter" idx="15"/>
          </p:nvPr>
        </p:nvSpPr>
        <p:spPr>
          <a:xfrm>
            <a:off x="3024000" y="525488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5436000"/>
          </a:xfrm>
          <a:prstGeom prst="rect">
            <a:avLst/>
          </a:prstGeom>
        </p:spPr>
        <p:txBody>
          <a:bodyPr lIns="0" tIns="0"/>
          <a:lstStyle>
            <a:lvl1pPr marL="3429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8001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2573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7145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2171700" indent="-21590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AutoNum type="arabicPeriod"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single.pngsingle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hasis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dy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Users/skinnyfish/Downloads/themes/blue/single2.pngsingl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14740" y="2122180"/>
            <a:ext cx="10800000" cy="41364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14740" y="374250"/>
            <a:ext cx="10800000" cy="615600"/>
          </a:xfrm>
          <a:prstGeom prst="rect">
            <a:avLst/>
          </a:prstGeom>
        </p:spPr>
        <p:txBody>
          <a:bodyPr anchor="t" anchorCtr="0"/>
          <a:lstStyle>
            <a:lvl1pPr algn="l">
              <a:defRPr sz="34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11" name="shape2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5" name="shape1"/>
          <p:cNvPicPr>
            <a:picLocks noChangeAspect="1"/>
          </p:cNvPicPr>
          <p:nvPr userDrawn="1"/>
        </p:nvPicPr>
        <p:blipFill>
          <a:blip r:embed="rId4" cstate="screen"/>
          <a:srcRect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tray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img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ray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34" name="list-item-img1" descr="城市街道与高楼大厦  描述已自动生成"/>
          <p:cNvPicPr>
            <a:picLocks noChangeAspect="1"/>
          </p:cNvPicPr>
          <p:nvPr userDrawn="1"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883663" y="1979435"/>
            <a:ext cx="3346542" cy="2484370"/>
          </a:xfrm>
          <a:prstGeom prst="roundRect">
            <a:avLst>
              <a:gd name="adj" fmla="val 9052"/>
            </a:avLst>
          </a:prstGeom>
        </p:spPr>
      </p:pic>
      <p:pic>
        <p:nvPicPr>
          <p:cNvPr id="42" name="list-item-img2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4486774" y="1979435"/>
            <a:ext cx="3280700" cy="2487600"/>
          </a:xfrm>
          <a:prstGeom prst="roundRect">
            <a:avLst>
              <a:gd name="adj" fmla="val 9033"/>
            </a:avLst>
          </a:prstGeom>
        </p:spPr>
      </p:pic>
      <p:pic>
        <p:nvPicPr>
          <p:cNvPr id="44" name="list-item-img3" descr="图片包含 户外, 建筑, 男人, 空气  描述已自动生成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019783" y="1976561"/>
            <a:ext cx="3288553" cy="2467436"/>
          </a:xfrm>
          <a:prstGeom prst="roundRect">
            <a:avLst>
              <a:gd name="adj" fmla="val 8644"/>
            </a:avLst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w-pro-lis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1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884580" y="2028742"/>
            <a:ext cx="4930226" cy="3861021"/>
          </a:xfrm>
          <a:prstGeom prst="rect">
            <a:avLst/>
          </a:prstGeom>
        </p:spPr>
      </p:pic>
      <p:pic>
        <p:nvPicPr>
          <p:cNvPr id="9" name="shape2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6377190" y="2028743"/>
            <a:ext cx="4930228" cy="3861021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03514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lang="en-US" sz="1800" b="1" kern="1200" dirty="0">
                <a:solidFill>
                  <a:schemeClr val="bg1"/>
                </a:solidFill>
                <a:effectLst/>
                <a:latin typeface="Poppins Regular" panose="02000000000000000000" charset="0"/>
                <a:ea typeface="+mn-ea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marL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065524" y="2584557"/>
            <a:ext cx="4570790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6396126" y="2022938"/>
            <a:ext cx="4911291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6567585" y="2609817"/>
            <a:ext cx="4570791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lang="en-US" sz="4400" b="1" kern="1200" dirty="0">
                <a:solidFill>
                  <a:srgbClr val="93ABDF"/>
                </a:solidFill>
                <a:latin typeface="Poppins Light" panose="02000000000000000000" charset="0"/>
                <a:ea typeface="+mn-ea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9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pic>
        <p:nvPicPr>
          <p:cNvPr id="5" name="tray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8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3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87997" y="4202748"/>
            <a:ext cx="1386840" cy="1386840"/>
          </a:xfrm>
          <a:prstGeom prst="rect">
            <a:avLst/>
          </a:prstGeom>
        </p:spPr>
      </p:pic>
      <p:pic>
        <p:nvPicPr>
          <p:cNvPr id="10" name="shape1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75448" y="2595880"/>
            <a:ext cx="1386840" cy="1386840"/>
          </a:xfrm>
          <a:prstGeom prst="rect">
            <a:avLst/>
          </a:prstGeom>
        </p:spPr>
      </p:pic>
      <p:pic>
        <p:nvPicPr>
          <p:cNvPr id="16" name="shape2" descr="A blue and purple circle with a black background  Description automatically generated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49035" y="2595880"/>
            <a:ext cx="1386840" cy="1386840"/>
          </a:xfrm>
          <a:prstGeom prst="rect">
            <a:avLst/>
          </a:prstGeom>
        </p:spPr>
      </p:pic>
      <p:pic>
        <p:nvPicPr>
          <p:cNvPr id="18" name="shape4" descr="A blue and purple circle with a white circle in the middle  Description automatically generated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35700" y="4210050"/>
            <a:ext cx="1386840" cy="1386840"/>
          </a:xfrm>
          <a:prstGeom prst="rect">
            <a:avLst/>
          </a:prstGeom>
        </p:spPr>
      </p:pic>
      <p:pic>
        <p:nvPicPr>
          <p:cNvPr id="20" name="tray"/>
          <p:cNvPicPr>
            <a:picLocks noChangeAspect="1"/>
          </p:cNvPicPr>
          <p:nvPr userDrawn="1"/>
        </p:nvPicPr>
        <p:blipFill>
          <a:blip r:embed="rId6"/>
          <a:srcRect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98360" y="2362922"/>
            <a:ext cx="3465094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7689736" y="2349781"/>
            <a:ext cx="3583858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4"/>
          <p:cNvSpPr>
            <a:spLocks noGrp="1"/>
          </p:cNvSpPr>
          <p:nvPr>
            <p:ph sz="quarter" idx="25"/>
          </p:nvPr>
        </p:nvSpPr>
        <p:spPr>
          <a:xfrm>
            <a:off x="7727950" y="4348480"/>
            <a:ext cx="3583940" cy="1240790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4" name="body3"/>
          <p:cNvSpPr>
            <a:spLocks noGrp="1"/>
          </p:cNvSpPr>
          <p:nvPr>
            <p:ph sz="quarter" idx="26"/>
          </p:nvPr>
        </p:nvSpPr>
        <p:spPr>
          <a:xfrm>
            <a:off x="915634" y="4348141"/>
            <a:ext cx="3465094" cy="1241447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20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r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5" name="number1"/>
          <p:cNvSpPr>
            <a:spLocks noGrp="1"/>
          </p:cNvSpPr>
          <p:nvPr>
            <p:ph sz="quarter" idx="14"/>
          </p:nvPr>
        </p:nvSpPr>
        <p:spPr>
          <a:xfrm>
            <a:off x="4636866" y="3011588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number2"/>
          <p:cNvSpPr>
            <a:spLocks noGrp="1"/>
          </p:cNvSpPr>
          <p:nvPr>
            <p:ph sz="quarter" idx="27"/>
          </p:nvPr>
        </p:nvSpPr>
        <p:spPr>
          <a:xfrm>
            <a:off x="6266034" y="3007140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number3"/>
          <p:cNvSpPr>
            <a:spLocks noGrp="1"/>
          </p:cNvSpPr>
          <p:nvPr>
            <p:ph sz="quarter" idx="28"/>
          </p:nvPr>
        </p:nvSpPr>
        <p:spPr>
          <a:xfrm>
            <a:off x="4678830" y="4668741"/>
            <a:ext cx="1289102" cy="6153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number4"/>
          <p:cNvSpPr>
            <a:spLocks noGrp="1"/>
          </p:cNvSpPr>
          <p:nvPr>
            <p:ph sz="quarter" idx="29"/>
          </p:nvPr>
        </p:nvSpPr>
        <p:spPr>
          <a:xfrm>
            <a:off x="6266180" y="4672330"/>
            <a:ext cx="1289050" cy="61468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2800" b="1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lang="en-US" sz="3400" b="1" kern="1200" smtClean="0">
                <a:solidFill>
                  <a:schemeClr val="tx1"/>
                </a:solidFill>
                <a:latin typeface="Poppins SemiBold" panose="02000000000000000000" charset="0"/>
                <a:ea typeface="+mj-ea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8869488" y="3106988"/>
            <a:ext cx="3136348" cy="114615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869487" y="2227580"/>
            <a:ext cx="3136349" cy="575945"/>
          </a:xfrm>
          <a:prstGeom prst="rect">
            <a:avLst/>
          </a:prstGeom>
        </p:spPr>
        <p:txBody>
          <a:bodyPr/>
          <a:lstStyle>
            <a:lvl1pPr>
              <a:defRPr sz="20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body2"/>
          <p:cNvSpPr>
            <a:spLocks noGrp="1"/>
          </p:cNvSpPr>
          <p:nvPr>
            <p:ph sz="quarter" idx="11"/>
          </p:nvPr>
        </p:nvSpPr>
        <p:spPr>
          <a:xfrm>
            <a:off x="8857614" y="4425150"/>
            <a:ext cx="3136348" cy="1704290"/>
          </a:xfrm>
          <a:prstGeom prst="rect">
            <a:avLst/>
          </a:prstGeom>
          <a:noFill/>
          <a:ln>
            <a:noFill/>
          </a:ln>
        </p:spPr>
        <p:txBody>
          <a:bodyPr lIns="72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4" name="tray" descr="建筑的摆设布局  中度可信度描述已自动生成"/>
          <p:cNvPicPr>
            <a:picLocks noChangeAspect="1"/>
          </p:cNvPicPr>
          <p:nvPr userDrawn="1"/>
        </p:nvPicPr>
        <p:blipFill rotWithShape="1">
          <a:blip r:embed="rId2" cstate="screen"/>
          <a:srcRect r="-1"/>
          <a:stretch>
            <a:fillRect/>
          </a:stretch>
        </p:blipFill>
        <p:spPr>
          <a:xfrm>
            <a:off x="333554" y="358776"/>
            <a:ext cx="8153221" cy="6140448"/>
          </a:xfrm>
          <a:prstGeom prst="roundRect">
            <a:avLst>
              <a:gd name="adj" fmla="val 5599"/>
            </a:avLst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list-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4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5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6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0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2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pro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16" name="shape3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8" name="shape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4"/>
            <a:r>
              <a:rPr lang="en-US" dirty="0"/>
              <a:t>Second level</a:t>
            </a:r>
          </a:p>
        </p:txBody>
      </p:sp>
      <p:pic>
        <p:nvPicPr>
          <p:cNvPr id="2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ray" descr="/Users/skinnyfish/Downloads/themes/blue/content.pngcontent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flipH="1"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"/>
          <p:cNvSpPr>
            <a:spLocks noGrp="1"/>
          </p:cNvSpPr>
          <p:nvPr>
            <p:ph sz="quarter" idx="10"/>
          </p:nvPr>
        </p:nvSpPr>
        <p:spPr>
          <a:xfrm>
            <a:off x="5735999" y="1942140"/>
            <a:ext cx="6120000" cy="4641215"/>
          </a:xfrm>
          <a:prstGeom prst="rect">
            <a:avLst/>
          </a:prstGeom>
        </p:spPr>
        <p:txBody>
          <a:bodyPr/>
          <a:lstStyle>
            <a:lvl1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5627999" y="1146515"/>
            <a:ext cx="6159600" cy="583200"/>
          </a:xfrm>
          <a:prstGeom prst="rect">
            <a:avLst/>
          </a:prstGeom>
        </p:spPr>
        <p:txBody>
          <a:bodyPr/>
          <a:lstStyle>
            <a:lvl1pPr>
              <a:defRPr sz="32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cover-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ray" descr="/Users/skinnyfish/Downloads/themes/blue/cover.pngcover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828675" y="3121660"/>
            <a:ext cx="10810240" cy="2757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5.png"/><Relationship Id="rId5" Type="http://schemas.openxmlformats.org/officeDocument/2006/relationships/customXml" Target="../ink/ink1.xml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0.jpeg"/><Relationship Id="rId7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3.xml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38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12" Type="http://schemas.openxmlformats.org/officeDocument/2006/relationships/customXml" Target="../ink/ink9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6.xml"/><Relationship Id="rId11" Type="http://schemas.openxmlformats.org/officeDocument/2006/relationships/image" Target="../media/image37.png"/><Relationship Id="rId5" Type="http://schemas.openxmlformats.org/officeDocument/2006/relationships/image" Target="../media/image8.png"/><Relationship Id="rId15" Type="http://schemas.openxmlformats.org/officeDocument/2006/relationships/image" Target="../media/image39.png"/><Relationship Id="rId10" Type="http://schemas.openxmlformats.org/officeDocument/2006/relationships/customXml" Target="../ink/ink8.xml"/><Relationship Id="rId4" Type="http://schemas.openxmlformats.org/officeDocument/2006/relationships/image" Target="../media/image7.png"/><Relationship Id="rId9" Type="http://schemas.openxmlformats.org/officeDocument/2006/relationships/image" Target="../media/image36.png"/><Relationship Id="rId1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795020" y="460375"/>
            <a:ext cx="10800080" cy="1805305"/>
          </a:xfrm>
          <a:prstGeom prst="rect">
            <a:avLst/>
          </a:prstGeom>
        </p:spPr>
        <p:txBody>
          <a:bodyPr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Modular Programming and Python Packaging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480" y="-18098"/>
            <a:ext cx="4297680" cy="6894195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0"/>
          </p:nvPr>
        </p:nvSpPr>
        <p:spPr>
          <a:xfrm>
            <a:off x="3024000" y="100800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1. Understanding Modular Programming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20800" y="1317600"/>
            <a:ext cx="2206800" cy="5184000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Content</a:t>
            </a:r>
          </a:p>
        </p:txBody>
      </p:sp>
      <p:sp>
        <p:nvSpPr>
          <p:cNvPr id="4" name="body2"/>
          <p:cNvSpPr>
            <a:spLocks noGrp="1"/>
          </p:cNvSpPr>
          <p:nvPr>
            <p:ph sz="quarter" idx="11"/>
          </p:nvPr>
        </p:nvSpPr>
        <p:spPr>
          <a:xfrm>
            <a:off x="3024000" y="186144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2. Python Packaging Basics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  <p:sp>
        <p:nvSpPr>
          <p:cNvPr id="6" name="body3"/>
          <p:cNvSpPr>
            <a:spLocks noGrp="1"/>
          </p:cNvSpPr>
          <p:nvPr>
            <p:ph sz="quarter" idx="12"/>
          </p:nvPr>
        </p:nvSpPr>
        <p:spPr>
          <a:xfrm>
            <a:off x="3024000" y="2704720"/>
            <a:ext cx="4651200" cy="841120"/>
          </a:xfrm>
          <a:prstGeom prst="rect">
            <a:avLst/>
          </a:prstGeom>
        </p:spPr>
        <p:txBody>
          <a:bodyPr lIns="0" tIns="0"/>
          <a:lstStyle>
            <a:lvl1pPr marL="1270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1pPr>
            <a:lvl2pPr marL="5842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2pPr>
            <a:lvl3pPr marL="10414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3pPr>
            <a:lvl4pPr marL="14986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4pPr>
            <a:lvl5pPr marL="1955800" indent="0" eaLnBrk="1" fontAlgn="auto" latinLnBrk="0" hangingPunct="1">
              <a:lnSpc>
                <a:spcPct val="25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1600" b="0">
                <a:latin typeface="Poppins Medium" panose="02000000000000000000" charset="0"/>
                <a:cs typeface="Poppins Medium" panose="02000000000000000000" charset="0"/>
              </a:defRPr>
            </a:lvl5pPr>
          </a:lstStyle>
          <a:p>
            <a:pPr lvl="0"/>
            <a:r>
              <a:rPr lang="en-US" dirty="0"/>
              <a:t>3. Case Studies and Practical Applications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  <a:p>
            <a:pPr lvl="4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1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Understanding Modular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Definition</a:t>
            </a:r>
          </a:p>
          <a:p>
            <a:pPr lvl="4"/>
            <a:r>
              <a:rPr lang="en-US" dirty="0"/>
              <a:t>Modular programming involves breaking down a program into separate, interchangeable modules.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Historical Context</a:t>
            </a:r>
          </a:p>
          <a:p>
            <a:pPr lvl="4"/>
            <a:r>
              <a:rPr lang="en-US" dirty="0"/>
              <a:t>Originating in the 1960s, it revolutionized software development.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Benefits</a:t>
            </a:r>
          </a:p>
          <a:p>
            <a:pPr lvl="4"/>
            <a:r>
              <a:rPr lang="en-US" dirty="0"/>
              <a:t>It enhances reusability, maintainability, and collaboration among developers.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What is Modular Programming?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Independence</a:t>
            </a:r>
          </a:p>
          <a:p>
            <a:pPr lvl="4"/>
            <a:r>
              <a:rPr lang="en-US" dirty="0"/>
              <a:t>Modules should function independently of one another.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Principles of Modular Programming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Interchangeability</a:t>
            </a:r>
          </a:p>
          <a:p>
            <a:pPr lvl="4"/>
            <a:r>
              <a:rPr lang="en-US" dirty="0"/>
              <a:t>Modules should be replaceable with minimal impact on the system.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Encapsulation</a:t>
            </a:r>
          </a:p>
          <a:p>
            <a:pPr lvl="4"/>
            <a:r>
              <a:rPr lang="en-US" dirty="0"/>
              <a:t>Modules should encapsulate specific functionality.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pic>
        <p:nvPicPr>
          <p:cNvPr id="3" name="list-item-img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63" y="1979435"/>
            <a:ext cx="3346542" cy="2484370"/>
          </a:xfrm>
          <a:prstGeom prst="rect">
            <a:avLst/>
          </a:prstGeom>
        </p:spPr>
      </p:pic>
      <p:pic>
        <p:nvPicPr>
          <p:cNvPr id="4" name="list-item-img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774" y="1979435"/>
            <a:ext cx="3280700" cy="2487600"/>
          </a:xfrm>
          <a:prstGeom prst="rect">
            <a:avLst/>
          </a:prstGeom>
        </p:spPr>
      </p:pic>
      <p:pic>
        <p:nvPicPr>
          <p:cNvPr id="5" name="list-item-img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783" y="1976561"/>
            <a:ext cx="3288553" cy="2467436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Implementing Modular Programming in Python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Module Creation</a:t>
            </a:r>
          </a:p>
          <a:p>
            <a:pPr lvl="4"/>
            <a:r>
              <a:rPr lang="en-US" dirty="0"/>
              <a:t>Python allows the creation of modular programs through separate .py files.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Importing Modules</a:t>
            </a:r>
          </a:p>
          <a:p>
            <a:pPr lvl="4"/>
            <a:r>
              <a:rPr lang="en-US" dirty="0"/>
              <a:t>The 'import' statement is used to import modules into Python programs.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Module Reusability</a:t>
            </a:r>
          </a:p>
          <a:p>
            <a:pPr lvl="4"/>
            <a:r>
              <a:rPr lang="en-US" dirty="0"/>
              <a:t>Python's modular approach enhances code reusability and maintainability.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298B17D-D938-9AE3-AAF4-5061130F19E4}"/>
                  </a:ext>
                </a:extLst>
              </p14:cNvPr>
              <p14:cNvContentPartPr/>
              <p14:nvPr/>
            </p14:nvContentPartPr>
            <p14:xfrm>
              <a:off x="3733584" y="3292251"/>
              <a:ext cx="40320" cy="61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298B17D-D938-9AE3-AAF4-5061130F19E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4944" y="3283611"/>
                <a:ext cx="57960" cy="7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2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Python Packaging Basics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pic>
        <p:nvPicPr>
          <p:cNvPr id="3" name="list-item-img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63" y="1979435"/>
            <a:ext cx="3346542" cy="2484370"/>
          </a:xfrm>
          <a:prstGeom prst="rect">
            <a:avLst/>
          </a:prstGeom>
        </p:spPr>
      </p:pic>
      <p:pic>
        <p:nvPicPr>
          <p:cNvPr id="4" name="list-item-img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774" y="1979435"/>
            <a:ext cx="3280700" cy="2487600"/>
          </a:xfrm>
          <a:prstGeom prst="rect">
            <a:avLst/>
          </a:prstGeom>
        </p:spPr>
      </p:pic>
      <p:pic>
        <p:nvPicPr>
          <p:cNvPr id="5" name="list-item-img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783" y="1976561"/>
            <a:ext cx="3288553" cy="2467436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Understanding Python Packaging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Definition</a:t>
            </a:r>
          </a:p>
          <a:p>
            <a:pPr lvl="4"/>
            <a:r>
              <a:rPr lang="en-US" dirty="0"/>
              <a:t>Python packaging involves bundling modules and resources for distribution.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Packaging Tools</a:t>
            </a:r>
          </a:p>
          <a:p>
            <a:pPr lvl="4"/>
            <a:r>
              <a:rPr lang="en-US" dirty="0"/>
              <a:t>Python offers tools like setuptools and distutils for packaging.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Distribution Formats</a:t>
            </a:r>
          </a:p>
          <a:p>
            <a:pPr lvl="4"/>
            <a:r>
              <a:rPr lang="en-US" dirty="0"/>
              <a:t>Python packages can be distributed in formats like wheels and source distributions.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Package Structure</a:t>
            </a:r>
          </a:p>
          <a:p>
            <a:pPr lvl="4"/>
            <a:r>
              <a:rPr lang="en-US" dirty="0"/>
              <a:t>Python packages have a specific directory structure with __init__.py files.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Creating Python Packages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Metadata</a:t>
            </a:r>
          </a:p>
          <a:p>
            <a:pPr lvl="4"/>
            <a:r>
              <a:rPr lang="en-US" dirty="0"/>
              <a:t>Packages include metadata such as name, version, and dependencies.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Packaging Workflow</a:t>
            </a:r>
          </a:p>
          <a:p>
            <a:pPr lvl="4"/>
            <a:r>
              <a:rPr lang="en-US" dirty="0"/>
              <a:t>The process involves building, distributing, and installing packages.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435EF1-384D-AEF6-A2C9-C6335BC90867}"/>
                  </a:ext>
                </a:extLst>
              </p14:cNvPr>
              <p14:cNvContentPartPr/>
              <p14:nvPr/>
            </p14:nvContentPartPr>
            <p14:xfrm>
              <a:off x="8068344" y="5812251"/>
              <a:ext cx="97560" cy="21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435EF1-384D-AEF6-A2C9-C6335BC908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59344" y="5803611"/>
                <a:ext cx="1152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40EF769-8521-F082-21BA-B841E912AB29}"/>
              </a:ext>
            </a:extLst>
          </p:cNvPr>
          <p:cNvGrpSpPr/>
          <p:nvPr/>
        </p:nvGrpSpPr>
        <p:grpSpPr>
          <a:xfrm>
            <a:off x="5139744" y="3353091"/>
            <a:ext cx="392760" cy="132120"/>
            <a:chOff x="5139744" y="3353091"/>
            <a:chExt cx="39276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1A12A5-AB72-8F3D-77C2-1EEA5792EE47}"/>
                    </a:ext>
                  </a:extLst>
                </p14:cNvPr>
                <p14:cNvContentPartPr/>
                <p14:nvPr/>
              </p14:nvContentPartPr>
              <p14:xfrm>
                <a:off x="5139744" y="3453891"/>
                <a:ext cx="207000" cy="19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1A12A5-AB72-8F3D-77C2-1EEA5792EE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30744" y="3445251"/>
                  <a:ext cx="2246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2BECA9-3166-D3A1-E959-E1B8DA928940}"/>
                    </a:ext>
                  </a:extLst>
                </p14:cNvPr>
                <p14:cNvContentPartPr/>
                <p14:nvPr/>
              </p14:nvContentPartPr>
              <p14:xfrm>
                <a:off x="5441784" y="3353091"/>
                <a:ext cx="90720" cy="132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2BECA9-3166-D3A1-E959-E1B8DA9289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32784" y="3344091"/>
                  <a:ext cx="108360" cy="1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93D9FF1-91DD-0F09-CEE9-8C668CDB6C44}"/>
                  </a:ext>
                </a:extLst>
              </p14:cNvPr>
              <p14:cNvContentPartPr/>
              <p14:nvPr/>
            </p14:nvContentPartPr>
            <p14:xfrm>
              <a:off x="5679744" y="4262451"/>
              <a:ext cx="633960" cy="105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93D9FF1-91DD-0F09-CEE9-8C668CDB6C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70744" y="4253451"/>
                <a:ext cx="651600" cy="122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Versioning</a:t>
            </a:r>
          </a:p>
          <a:p>
            <a:pPr lvl="4"/>
            <a:r>
              <a:rPr lang="en-US" dirty="0"/>
              <a:t>Following semantic versioning for packages ensures compatibility.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Testing and Continuous Integration</a:t>
            </a:r>
          </a:p>
          <a:p>
            <a:pPr lvl="4"/>
            <a:r>
              <a:rPr lang="en-US" dirty="0"/>
              <a:t>Testing and CI/CD practices are crucial for reliable packages.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Documentation</a:t>
            </a:r>
          </a:p>
          <a:p>
            <a:pPr lvl="4"/>
            <a:r>
              <a:rPr lang="en-US" dirty="0"/>
              <a:t>Including clear documentation enhances the usability of Python packages.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Best Practices for Python Packaging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17055D-1111-4572-AA3D-08B01DE4FB6C}"/>
                  </a:ext>
                </a:extLst>
              </p14:cNvPr>
              <p14:cNvContentPartPr/>
              <p14:nvPr/>
            </p14:nvContentPartPr>
            <p14:xfrm>
              <a:off x="1843224" y="3499251"/>
              <a:ext cx="462960" cy="243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17055D-1111-4572-AA3D-08B01DE4FB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34584" y="3490251"/>
                <a:ext cx="4806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365E67A-3E00-3E90-A133-3ABDA5FC7841}"/>
                  </a:ext>
                </a:extLst>
              </p14:cNvPr>
              <p14:cNvContentPartPr/>
              <p14:nvPr/>
            </p14:nvContentPartPr>
            <p14:xfrm>
              <a:off x="4081704" y="4114131"/>
              <a:ext cx="375120" cy="226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365E67A-3E00-3E90-A133-3ABDA5FC784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72704" y="4105491"/>
                <a:ext cx="39276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94535C-47B8-88AE-1F1B-6B336A74DFDC}"/>
                  </a:ext>
                </a:extLst>
              </p14:cNvPr>
              <p14:cNvContentPartPr/>
              <p14:nvPr/>
            </p14:nvContentPartPr>
            <p14:xfrm>
              <a:off x="8038464" y="3574491"/>
              <a:ext cx="414000" cy="850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94535C-47B8-88AE-1F1B-6B336A74DF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9464" y="3565851"/>
                <a:ext cx="431640" cy="8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229C1DD-2D4F-6261-25F4-6FB5FABF31E7}"/>
                  </a:ext>
                </a:extLst>
              </p14:cNvPr>
              <p14:cNvContentPartPr/>
              <p14:nvPr/>
            </p14:nvContentPartPr>
            <p14:xfrm>
              <a:off x="8739024" y="4755291"/>
              <a:ext cx="1200960" cy="73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229C1DD-2D4F-6261-25F4-6FB5FABF31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730024" y="4746651"/>
                <a:ext cx="121860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46DE39A-2ECF-FDCB-9B78-1590AF6BB0D6}"/>
                  </a:ext>
                </a:extLst>
              </p14:cNvPr>
              <p14:cNvContentPartPr/>
              <p14:nvPr/>
            </p14:nvContentPartPr>
            <p14:xfrm>
              <a:off x="8449944" y="5375931"/>
              <a:ext cx="988920" cy="84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46DE39A-2ECF-FDCB-9B78-1590AF6BB0D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40944" y="5367291"/>
                <a:ext cx="1006560" cy="10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57" y="-16200"/>
            <a:ext cx="12229714" cy="6890400"/>
          </a:xfrm>
          <a:prstGeom prst="rect">
            <a:avLst/>
          </a:prstGeom>
        </p:spPr>
      </p:pic>
      <p:sp>
        <p:nvSpPr>
          <p:cNvPr id="5" name="body1"/>
          <p:cNvSpPr>
            <a:spLocks noGrp="1"/>
          </p:cNvSpPr>
          <p:nvPr>
            <p:ph sz="quarter" idx="13"/>
          </p:nvPr>
        </p:nvSpPr>
        <p:spPr>
          <a:xfrm>
            <a:off x="335915" y="505460"/>
            <a:ext cx="11520170" cy="1350010"/>
          </a:xfrm>
          <a:prstGeom prst="rect">
            <a:avLst/>
          </a:prstGeom>
        </p:spPr>
        <p:txBody>
          <a:bodyPr lIns="0" tIns="0" anchor="b" anchorCtr="0"/>
          <a:lstStyle>
            <a:lvl1pPr marL="1270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  <a:lvl2pPr marL="5842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2pPr>
            <a:lvl3pPr marL="10414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3pPr>
            <a:lvl4pPr marL="14986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4pPr>
            <a:lvl5pPr marL="1955800" indent="0" algn="ctr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+mj-lt"/>
              <a:buNone/>
              <a:defRPr sz="2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</a:lstStyle>
          <a:p>
            <a:pPr lvl="0"/>
            <a:r>
              <a:rPr lang="en-US" dirty="0"/>
              <a:t>Section 3</a:t>
            </a:r>
          </a:p>
          <a:p>
            <a:pPr lvl="1"/>
            <a:endParaRPr lang="en-US" dirty="0"/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335915" y="3058795"/>
            <a:ext cx="11520170" cy="3479165"/>
          </a:xfrm>
          <a:prstGeom prst="rect">
            <a:avLst/>
          </a:prstGeom>
        </p:spPr>
        <p:txBody>
          <a:bodyPr anchor="t" anchorCtr="0"/>
          <a:lstStyle>
            <a:lvl1pPr marL="0" indent="0" algn="ctr" eaLnBrk="1" fontAlgn="auto" latinLnBrk="0" hangingPunct="1">
              <a:lnSpc>
                <a:spcPct val="100000"/>
              </a:lnSpc>
              <a:defRPr sz="3200" b="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1pPr>
          </a:lstStyle>
          <a:p>
            <a:r>
              <a:rPr lang="en-US"/>
              <a:t>Case Studies and Practical Applications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pic>
        <p:nvPicPr>
          <p:cNvPr id="3" name="list-item-img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63" y="1979435"/>
            <a:ext cx="3346542" cy="2484370"/>
          </a:xfrm>
          <a:prstGeom prst="rect">
            <a:avLst/>
          </a:prstGeom>
        </p:spPr>
      </p:pic>
      <p:pic>
        <p:nvPicPr>
          <p:cNvPr id="4" name="list-item-img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774" y="1979435"/>
            <a:ext cx="3280700" cy="2487600"/>
          </a:xfrm>
          <a:prstGeom prst="rect">
            <a:avLst/>
          </a:prstGeom>
        </p:spPr>
      </p:pic>
      <p:pic>
        <p:nvPicPr>
          <p:cNvPr id="5" name="list-item-img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783" y="1976561"/>
            <a:ext cx="3288553" cy="2467436"/>
          </a:xfrm>
          <a:prstGeom prst="rect">
            <a:avLst/>
          </a:prstGeom>
        </p:spPr>
      </p:pic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Case Study: Django Framework</a:t>
            </a:r>
          </a:p>
        </p:txBody>
      </p:sp>
      <p:sp>
        <p:nvSpPr>
          <p:cNvPr id="11" name="body1"/>
          <p:cNvSpPr>
            <a:spLocks noGrp="1"/>
          </p:cNvSpPr>
          <p:nvPr>
            <p:ph sz="quarter" idx="10"/>
          </p:nvPr>
        </p:nvSpPr>
        <p:spPr>
          <a:xfrm>
            <a:off x="902963" y="4590898"/>
            <a:ext cx="3276442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Modular Architecture</a:t>
            </a:r>
          </a:p>
          <a:p>
            <a:pPr lvl="4"/>
            <a:r>
              <a:rPr lang="en-US" dirty="0"/>
              <a:t>Django's design emphasizes modularity for scalability and maintainability.</a:t>
            </a:r>
          </a:p>
        </p:txBody>
      </p:sp>
      <p:sp>
        <p:nvSpPr>
          <p:cNvPr id="24" name="body2"/>
          <p:cNvSpPr>
            <a:spLocks noGrp="1"/>
          </p:cNvSpPr>
          <p:nvPr>
            <p:ph sz="quarter" idx="29"/>
          </p:nvPr>
        </p:nvSpPr>
        <p:spPr>
          <a:xfrm>
            <a:off x="4492830" y="4573965"/>
            <a:ext cx="3276440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Packaging Ecosystem</a:t>
            </a:r>
          </a:p>
          <a:p>
            <a:pPr lvl="4"/>
            <a:r>
              <a:rPr lang="en-US" dirty="0"/>
              <a:t>Django leverages Python packaging for its extensive ecosystem of reusable apps.</a:t>
            </a:r>
          </a:p>
        </p:txBody>
      </p:sp>
      <p:sp>
        <p:nvSpPr>
          <p:cNvPr id="26" name="body3"/>
          <p:cNvSpPr>
            <a:spLocks noGrp="1"/>
          </p:cNvSpPr>
          <p:nvPr>
            <p:ph sz="quarter" idx="31"/>
          </p:nvPr>
        </p:nvSpPr>
        <p:spPr>
          <a:xfrm>
            <a:off x="8031895" y="4557032"/>
            <a:ext cx="3276441" cy="1404787"/>
          </a:xfrm>
          <a:prstGeom prst="rect">
            <a:avLst/>
          </a:prstGeom>
          <a:noFill/>
          <a:ln>
            <a:noFill/>
          </a:ln>
        </p:spPr>
        <p:txBody>
          <a:bodyPr lIns="3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8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4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Community Contributions</a:t>
            </a:r>
          </a:p>
          <a:p>
            <a:pPr lvl="4"/>
            <a:r>
              <a:rPr lang="en-US" dirty="0"/>
              <a:t>The Django community actively contributes modular components and packages.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1513836"/>
            <a:ext cx="5346755" cy="1323062"/>
          </a:xfrm>
          <a:prstGeom prst="rect">
            <a:avLst/>
          </a:prstGeom>
        </p:spPr>
      </p:pic>
      <p:pic>
        <p:nvPicPr>
          <p:cNvPr id="3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39" y="4684480"/>
            <a:ext cx="5346754" cy="1323062"/>
          </a:xfrm>
          <a:prstGeom prst="rect">
            <a:avLst/>
          </a:prstGeom>
        </p:spPr>
      </p:pic>
      <p:pic>
        <p:nvPicPr>
          <p:cNvPr id="4" name="shap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714" y="3094986"/>
            <a:ext cx="5353479" cy="1323062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8" y="-10049"/>
            <a:ext cx="4295746" cy="6891093"/>
          </a:xfrm>
          <a:prstGeom prst="rect">
            <a:avLst/>
          </a:prstGeom>
        </p:spPr>
      </p:pic>
      <p:sp>
        <p:nvSpPr>
          <p:cNvPr id="9" name="body1"/>
          <p:cNvSpPr>
            <a:spLocks noGrp="1"/>
          </p:cNvSpPr>
          <p:nvPr>
            <p:ph sz="quarter" idx="10"/>
          </p:nvPr>
        </p:nvSpPr>
        <p:spPr>
          <a:xfrm>
            <a:off x="5572070" y="1521392"/>
            <a:ext cx="5346755" cy="1315506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Scientific Computing</a:t>
            </a:r>
          </a:p>
          <a:p>
            <a:pPr lvl="4"/>
            <a:r>
              <a:rPr lang="en-US" dirty="0"/>
              <a:t>NumPy and SciPy showcase the power of modular programming in scientific computing.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5469737" y="679316"/>
            <a:ext cx="6093372" cy="417964"/>
          </a:xfrm>
          <a:prstGeom prst="rect">
            <a:avLst/>
          </a:prstGeom>
        </p:spPr>
        <p:txBody>
          <a:bodyPr/>
          <a:lstStyle>
            <a:lvl1pPr>
              <a:defRPr sz="2800" b="0">
                <a:latin typeface="Poppins Medium" panose="02000000000000000000" charset="0"/>
                <a:cs typeface="Poppins Medium" panose="02000000000000000000" charset="0"/>
              </a:defRPr>
            </a:lvl1pPr>
          </a:lstStyle>
          <a:p>
            <a:r>
              <a:rPr lang="en-US"/>
              <a:t>Case Study: NumPy and SciPy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4"/>
          </p:nvPr>
        </p:nvSpPr>
        <p:spPr>
          <a:xfrm>
            <a:off x="5572070" y="3103330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Package Interoperability</a:t>
            </a:r>
          </a:p>
          <a:p>
            <a:pPr lvl="4"/>
            <a:r>
              <a:rPr lang="en-US" dirty="0"/>
              <a:t>These libraries demonstrate seamless interoperability through modular design.</a:t>
            </a:r>
          </a:p>
        </p:txBody>
      </p:sp>
      <p:sp>
        <p:nvSpPr>
          <p:cNvPr id="14" name="body3"/>
          <p:cNvSpPr>
            <a:spLocks noGrp="1"/>
          </p:cNvSpPr>
          <p:nvPr>
            <p:ph sz="quarter" idx="25"/>
          </p:nvPr>
        </p:nvSpPr>
        <p:spPr>
          <a:xfrm>
            <a:off x="5579482" y="4686805"/>
            <a:ext cx="5346755" cy="1314718"/>
          </a:xfrm>
          <a:prstGeom prst="rect">
            <a:avLst/>
          </a:prstGeom>
          <a:noFill/>
          <a:ln>
            <a:noFill/>
          </a:ln>
        </p:spPr>
        <p:txBody>
          <a:bodyPr lIns="216000" tIns="144000" bIns="7200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 b="1"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Performance Optimization</a:t>
            </a:r>
          </a:p>
          <a:p>
            <a:pPr lvl="4"/>
            <a:r>
              <a:rPr lang="en-US" dirty="0"/>
              <a:t>Modular architecture contributes to the performance of these scientific computing packages.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hap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111" y="1965229"/>
            <a:ext cx="3128317" cy="3873154"/>
          </a:xfrm>
          <a:prstGeom prst="rect">
            <a:avLst/>
          </a:prstGeom>
        </p:spPr>
      </p:pic>
      <p:pic>
        <p:nvPicPr>
          <p:cNvPr id="3" name="shap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292" y="1989662"/>
            <a:ext cx="3114392" cy="3870745"/>
          </a:xfrm>
          <a:prstGeom prst="rect">
            <a:avLst/>
          </a:prstGeom>
        </p:spPr>
      </p:pic>
      <p:pic>
        <p:nvPicPr>
          <p:cNvPr id="4" name="shape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97" y="1981689"/>
            <a:ext cx="3119717" cy="3862506"/>
          </a:xfrm>
          <a:prstGeom prst="rect">
            <a:avLst/>
          </a:prstGeom>
        </p:spPr>
      </p:pic>
      <p:pic>
        <p:nvPicPr>
          <p:cNvPr id="5" name="tr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" y="-3991"/>
            <a:ext cx="12191992" cy="1308409"/>
          </a:xfrm>
          <a:prstGeom prst="rect">
            <a:avLst/>
          </a:prstGeom>
        </p:spPr>
      </p:pic>
      <p:sp>
        <p:nvSpPr>
          <p:cNvPr id="13" name="body1"/>
          <p:cNvSpPr>
            <a:spLocks noGrp="1"/>
          </p:cNvSpPr>
          <p:nvPr>
            <p:ph sz="quarter" idx="10"/>
          </p:nvPr>
        </p:nvSpPr>
        <p:spPr>
          <a:xfrm>
            <a:off x="918297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Microservices</a:t>
            </a:r>
          </a:p>
          <a:p>
            <a:pPr lvl="4"/>
            <a:r>
              <a:rPr lang="en-US" dirty="0"/>
              <a:t>Modular programming and Python packaging are integral to microservices architecture.</a:t>
            </a:r>
          </a:p>
        </p:txBody>
      </p:sp>
      <p:sp>
        <p:nvSpPr>
          <p:cNvPr id="7" name="number1"/>
          <p:cNvSpPr>
            <a:spLocks noGrp="1"/>
          </p:cNvSpPr>
          <p:nvPr>
            <p:ph sz="quarter" idx="14"/>
          </p:nvPr>
        </p:nvSpPr>
        <p:spPr>
          <a:xfrm>
            <a:off x="1101172" y="2640399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01</a:t>
            </a:r>
          </a:p>
        </p:txBody>
      </p:sp>
      <p:sp>
        <p:nvSpPr>
          <p:cNvPr id="19" name="body3"/>
          <p:cNvSpPr>
            <a:spLocks noGrp="1"/>
          </p:cNvSpPr>
          <p:nvPr>
            <p:ph sz="quarter" idx="17"/>
          </p:nvPr>
        </p:nvSpPr>
        <p:spPr>
          <a:xfrm>
            <a:off x="8115110" y="1983400"/>
            <a:ext cx="31283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Industry Adoption</a:t>
            </a:r>
          </a:p>
          <a:p>
            <a:pPr lvl="4"/>
            <a:r>
              <a:rPr lang="en-US" dirty="0"/>
              <a:t>Real-world examples of companies leveraging modular programming and Python packaging for scalable software solutions.</a:t>
            </a:r>
          </a:p>
        </p:txBody>
      </p:sp>
      <p:sp>
        <p:nvSpPr>
          <p:cNvPr id="20" name="number3"/>
          <p:cNvSpPr>
            <a:spLocks noGrp="1"/>
          </p:cNvSpPr>
          <p:nvPr>
            <p:ph sz="quarter" idx="18"/>
          </p:nvPr>
        </p:nvSpPr>
        <p:spPr>
          <a:xfrm>
            <a:off x="8328260" y="2644147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rgbClr val="93ABDF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03</a:t>
            </a:r>
          </a:p>
        </p:txBody>
      </p:sp>
      <p:sp>
        <p:nvSpPr>
          <p:cNvPr id="12" name="body2"/>
          <p:cNvSpPr>
            <a:spLocks noGrp="1"/>
          </p:cNvSpPr>
          <p:nvPr>
            <p:ph sz="quarter" idx="19"/>
          </p:nvPr>
        </p:nvSpPr>
        <p:spPr>
          <a:xfrm>
            <a:off x="4484299" y="1999385"/>
            <a:ext cx="3119718" cy="3861022"/>
          </a:xfrm>
          <a:prstGeom prst="rect">
            <a:avLst/>
          </a:prstGeom>
          <a:noFill/>
          <a:ln>
            <a:noFill/>
          </a:ln>
        </p:spPr>
        <p:txBody>
          <a:bodyPr lIns="251999" tIns="1872000" rIns="216000" bIns="216000"/>
          <a:lstStyle>
            <a:lvl1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800" b="1">
                <a:solidFill>
                  <a:schemeClr val="bg1"/>
                </a:solidFill>
                <a:effectLst/>
                <a:latin typeface="Poppins Regular" panose="02000000000000000000" charset="0"/>
                <a:cs typeface="Poppins Regular" panose="02000000000000000000" charset="0"/>
              </a:defRPr>
            </a:lvl1pPr>
            <a:lvl2pPr marL="0" indent="-179705" algn="just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2pPr>
            <a:lvl3pPr marL="0" indent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  <a:defRPr sz="1600">
                <a:latin typeface="Poppins Regular" panose="02000000000000000000" charset="0"/>
                <a:cs typeface="Poppins Regular" panose="02000000000000000000" charset="0"/>
              </a:defRPr>
            </a:lvl3pPr>
            <a:lvl4pPr marL="0" indent="-179705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ct val="80000"/>
              <a:defRPr sz="1600">
                <a:latin typeface="Poppins Regular" panose="02000000000000000000" charset="0"/>
                <a:cs typeface="Poppins Regular" panose="02000000000000000000" charset="0"/>
              </a:defRPr>
            </a:lvl4pPr>
            <a:lvl5pPr marL="0" indent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80000"/>
              <a:buNone/>
              <a:defRPr sz="1400">
                <a:solidFill>
                  <a:schemeClr val="bg1"/>
                </a:solidFill>
                <a:latin typeface="Poppins Regular" panose="02000000000000000000" charset="0"/>
                <a:cs typeface="Poppins Regular" panose="02000000000000000000" charset="0"/>
              </a:defRPr>
            </a:lvl5pPr>
            <a:lvl6pPr algn="l">
              <a:defRPr/>
            </a:lvl6pPr>
          </a:lstStyle>
          <a:p>
            <a:pPr lvl="0"/>
            <a:r>
              <a:rPr lang="en-US" dirty="0"/>
              <a:t>Open Source Contributions</a:t>
            </a:r>
          </a:p>
          <a:p>
            <a:pPr lvl="4"/>
            <a:r>
              <a:rPr lang="en-US" dirty="0"/>
              <a:t>Many open-source projects rely on modular programming and Python packaging for collaboration.</a:t>
            </a:r>
          </a:p>
        </p:txBody>
      </p:sp>
      <p:sp>
        <p:nvSpPr>
          <p:cNvPr id="14" name="number2"/>
          <p:cNvSpPr>
            <a:spLocks noGrp="1"/>
          </p:cNvSpPr>
          <p:nvPr>
            <p:ph sz="quarter" idx="20"/>
          </p:nvPr>
        </p:nvSpPr>
        <p:spPr>
          <a:xfrm>
            <a:off x="4702707" y="2640398"/>
            <a:ext cx="2945443" cy="6153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Poppins Light" panose="02000000000000000000" charset="0"/>
                <a:cs typeface="Poppins Light" panose="02000000000000000000" charset="0"/>
              </a:defRPr>
            </a:lvl1pPr>
            <a:lvl2pPr marL="457200" indent="0" algn="ctr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2pPr>
            <a:lvl3pPr marL="914400" indent="0">
              <a:lnSpc>
                <a:spcPct val="100000"/>
              </a:lnSpc>
              <a:buNone/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3pPr>
            <a:lvl4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4pPr>
            <a:lvl5pPr>
              <a:lnSpc>
                <a:spcPct val="100000"/>
              </a:lnSpc>
              <a:defRPr sz="2200">
                <a:solidFill>
                  <a:schemeClr val="tx1"/>
                </a:solidFill>
                <a:latin typeface="Poppins Light" panose="02000000000000000000" charset="0"/>
                <a:cs typeface="Poppins Light" panose="02000000000000000000" charset="0"/>
              </a:defRPr>
            </a:lvl5pPr>
          </a:lstStyle>
          <a:p>
            <a:r>
              <a:rPr lang="en-US"/>
              <a:t>02</a:t>
            </a:r>
          </a:p>
        </p:txBody>
      </p:sp>
      <p:sp>
        <p:nvSpPr>
          <p:cNvPr id="6" name="header"/>
          <p:cNvSpPr>
            <a:spLocks noGrp="1"/>
          </p:cNvSpPr>
          <p:nvPr>
            <p:ph type="title"/>
          </p:nvPr>
        </p:nvSpPr>
        <p:spPr>
          <a:xfrm>
            <a:off x="835414" y="342413"/>
            <a:ext cx="10800000" cy="615600"/>
          </a:xfrm>
          <a:prstGeom prst="rect">
            <a:avLst/>
          </a:prstGeom>
        </p:spPr>
        <p:txBody>
          <a:bodyPr anchor="ctr" anchorCtr="0"/>
          <a:lstStyle>
            <a:lvl1pPr algn="l">
              <a:defRPr sz="3400" b="1">
                <a:solidFill>
                  <a:schemeClr val="tx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Practical Applications in Software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052" y="-18000"/>
            <a:ext cx="12236104" cy="6894000"/>
          </a:xfrm>
          <a:prstGeom prst="rect">
            <a:avLst/>
          </a:prstGeom>
        </p:spPr>
      </p:pic>
      <p:sp>
        <p:nvSpPr>
          <p:cNvPr id="3" name="header"/>
          <p:cNvSpPr>
            <a:spLocks noGrp="1"/>
          </p:cNvSpPr>
          <p:nvPr>
            <p:ph type="title"/>
          </p:nvPr>
        </p:nvSpPr>
        <p:spPr>
          <a:xfrm>
            <a:off x="838200" y="1418590"/>
            <a:ext cx="10800080" cy="1805305"/>
          </a:xfrm>
          <a:prstGeom prst="rect">
            <a:avLst/>
          </a:prstGeom>
        </p:spPr>
        <p:txBody>
          <a:bodyPr bIns="0" anchor="b" anchorCtr="0"/>
          <a:lstStyle>
            <a:lvl1pPr algn="l">
              <a:defRPr sz="4800" b="1">
                <a:solidFill>
                  <a:schemeClr val="bg1"/>
                </a:solidFill>
                <a:latin typeface="Poppins SemiBold" panose="02000000000000000000" charset="0"/>
                <a:cs typeface="Poppins SemiBold" panose="02000000000000000000" charset="0"/>
              </a:defRPr>
            </a:lvl1pPr>
          </a:lstStyle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437</Words>
  <Application>Microsoft Office PowerPoint</Application>
  <PresentationFormat>Widescreen</PresentationFormat>
  <Paragraphs>90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Poppins Light</vt:lpstr>
      <vt:lpstr>Poppins Medium</vt:lpstr>
      <vt:lpstr>Poppins Regular</vt:lpstr>
      <vt:lpstr>Poppins SemiBold</vt:lpstr>
      <vt:lpstr>Office 主题​​</vt:lpstr>
      <vt:lpstr>Modular Programming and Python Packaging</vt:lpstr>
      <vt:lpstr>Content</vt:lpstr>
      <vt:lpstr>Understanding Modular Programming</vt:lpstr>
      <vt:lpstr>What is Modular Programming?</vt:lpstr>
      <vt:lpstr>Principles of Modular Programming</vt:lpstr>
      <vt:lpstr>Implementing Modular Programming in Python</vt:lpstr>
      <vt:lpstr>Python Packaging Basics</vt:lpstr>
      <vt:lpstr>Understanding Python Packaging</vt:lpstr>
      <vt:lpstr>Creating Python Packages</vt:lpstr>
      <vt:lpstr>Best Practices for Python Packaging</vt:lpstr>
      <vt:lpstr>Case Studies and Practical Applications</vt:lpstr>
      <vt:lpstr>Case Study: Django Framework</vt:lpstr>
      <vt:lpstr>Case Study: NumPy and SciPy</vt:lpstr>
      <vt:lpstr>Practical Applications in Software Development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SkinnyFish</dc:creator>
  <cp:lastModifiedBy>Shubhankit Sirvaiya</cp:lastModifiedBy>
  <cp:revision>125</cp:revision>
  <dcterms:created xsi:type="dcterms:W3CDTF">2024-01-12T07:48:11Z</dcterms:created>
  <dcterms:modified xsi:type="dcterms:W3CDTF">2024-02-05T08:24:33Z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2052-6.4.0.8550</vt:lpwstr>
  </property>
  <property fmtid="{D5CDD505-2E9C-101B-9397-08002B2CF9AE}" pid="3" name="ICV">
    <vt:lpwstr>9DD6DF833E394729E4E16E651B262C40_43</vt:lpwstr>
  </property>
</Properties>
</file>